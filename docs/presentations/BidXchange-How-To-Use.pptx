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25–30 minutes plus practice. This guide follows the deployed contractor workflow, including company signup and invitations, September 22, 2026. Open https://bidxapp.vercel.app/. Screenshots are public fictional demo data. Use an authorized training workspace for changes; the public demo does not reproduce every authenticated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an opportunity as the source notice and a pursuit as the team’s workspace for evaluating and responding. Evidence approval for one requirement is different from approval of an entire response. Never describe the app as the bid submitter.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Company creation and joining are under /onboarding. Administrators create invitations in Settings → Create and manage team invitations, then share the join address themselves. No invitation email is sent automatically. Invitations last seven days and require the exact confirmed email. Existing active roles are preserved. Creating a company saves workspace names but does not attest Passport evidence. Each account can create up to three companies; contact support for more. Never share sign-in links or codes. Users with several companies must confirm the selected organization on every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to the left navigation. The real company workspace includes role-controlled contractor features not all represented in this demo. Avoid reading fictional metrics as a real company assessment. Use the same top-level route names in the live demonstration.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administrator adds or edits company records. Work through the six Passport areas; entries save individually. Use Redlands, California as a territory example, not a real customer assertion. Leave unsupported information unknown. Project entries include customer, role, value band, year, scope, location and disclosure permission. No upload is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existing controls call attestation verification. Explain that this records human review of evidence, not legal eligibility. Material edits can reset the record to pending verification. Keep financial and insurance details within permitted visibility. Do not paste passwords or full tax identifiers. External source links are preferable to unsupported upload assumptions.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source-check date falls back to the attestation date when no explicit check date exists. Stale means last checked over 90 days ago. A scheduled monitor checks enabled organizations once per UTC day, processed in batches. Opening a pursuit also checks linked evidence. In-app reminders appear in Today and Company. Acknowledging a reminder does not renew evidence or clear a blocker. No email or SMS notification is sent. Previous decisions remain in history. Restricted records may be hidden from the current role.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the Record an opportunity area in an authorized workspace. A URL alone does not import all solicitation content. Paste relevant public notice text and preserve its source. Only record estimated value when explicitly stated. Open the resulting opportunity, then start a pursuit using its planning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energy-efficiency work, SCE PEPMA may be especially relevant. Portal registration and authentication remain separate from BidXchange. Do not imply unrestricted SAM live coverage. The manual workflow remains reliable without an API connection. Never copy portal passwords into a source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initial decision stays pending. Do not treat an attractive scope or source match as qualification. Before drafting, ensure the pursuit points to the intended opportunity and deadline. Use the source URL to revisit the actual buyer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Checklist heuristics are versioned and nonbinding. Electrical, wage, payroll, bond and meeting keywords prompt investigation; they do not determine license coverage. Heuristic dismissals currently last in the open view. Review the entire notice and attachments rather than assuming the excerpt was exhaustive.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Administrator/executive roles perform human resolution reviews. Supported findings require current approved evidence. Not applicable requires a reason; a documented buyer waiver is a separate executive-only finding with authority/source details. AI suggestions do not finalize blockers. Evidence details remain role-restricted.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administrator or executive approver signs off. Amendments must be reviewed first. Sign-off is bound to the register/source/evidence context and review date. If records change, refresh and review again. The system preserves the prior sign-off rather than overwriting its historical meaning.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controls require an administrator or executive approver. Both final outcomes require current sign-off. The record preserves who decided, when, and the reviewed context. A stale decision does not silently switch bid to no-bid. Pricing, signatures and submission authorization remain separate.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managers and administrators create pursuit tasks. Templates are suggestions added deliberately, not proof that work is complete. Teaming research is not a public marketplace or automatic eligibility fix. Check the buyer’s rules before assuming a subcontractor resolves a license or participation requirement.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Workspace AI uses current authorized records when a request is made; previous answers are snapshots. Availability depends on activation and usage limits. General mode has no live web access. Newly added record types may not all be retrievable yet: open the source panel directly if needed. Do not enter passwords or API keys. Questions are independent, so include the needed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assistant outline contains California contractor sections and requirement-linked answers. Legal name/DBA require current attested identity; the website may remain a human-input placeholder. Insurance/bonding and other sensitive facts are not indiscriminately copied. Past-performance reuse requires disclosure permission and applicable export policy. Creating an outline is not a full proposal-writing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Downloads use saved narrative; permitted automatic data are refreshed at export. Manually copied old values must still be checked. Human-input placeholders and TODO/TBD block release approval. Working PDF/Word drafts retain internal review material; prepare the buyer-facing final files deliberately outside the app as required by the release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Existing release gates cover compliance, pricing, final review and submission authorization, with role requirements shown in the app. File hashes are calculated in the browser; selected file bytes are not uploaded by this workflow. A changed upstream approval invalidates later gates. Approvals are attributed review records, not legal signatures or buyer acceptance.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 does not log into portals, upload the bid for you, sign, or send it. Recording is role-controlled and tied to the authorized submitter/version. Check the app’s current release gates: passed deadlines or changed review dates can require renewed review. An internal handoff packet is not the buyer-facing 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amendment review control asks you to type reviewed. That acknowledgment does not automatically sign off the register. Expired or stale linked evidence can reopen review through the scheduled monitor or pursuit access. Check in-app reminders; no email or SMS notification is sent. Context includes a UTC review-date boundary, so next-day work can require renewed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Outcome details are saved in existing follow-up history. Leave unofficial awardee/amount unknown. Permission to disclose defaults to not granted and is available for recorded awards only. An award is not completed past performance; reuse is never automatic. The full outcome-to-past-performance promotion workflow remains unfinished. Estimator and viewer privileges differ from approver privileges. Do not borrow an account to bypass a missing permission. The same person may hold several authorized responsibilities; strict four-person separation is not enforced.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with facilitator help. Use synthetic information only; do not fabricate an official source. Add a fictional amendment to demonstrate invalidation if the audience has the right permissions. The public demo can show navigation but does not support the entire authenticated workflow. Do not record a practice submission as a real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having each attendee name their next task and who reviews it. Reiterate the boundary: Human review required. BidXchange organizes contracting information but does not determine legal eligibility, set pricing or submit bids. This deck describes the deployed contractor release, not every future capability in the broader roadmap.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checklist uses the selected pursuit, not another opportunity. An administrator or executive approver signs off the Requirements Register. Missing sign-off is not treated as current. The source, review, decision and release controls remain subject to role permissions.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/pursuits/DEMO-001?workspace=demo. Use only made-up text. Exercise state resets on leaving or reload. The training export is text; real authenticated response exports support PDF and Word. No-bid prevents advancement in the exercise. Editing a draft clears its approval. Amendment and insurance-expiration controls make the decision stale and prevent reuse of the old approval. Historical events remain visible until reset. This rehearsal is not proof of production permissions or a real 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Administrators and capture managers can correct requirements. Evidence approvals and tasks remain on their original rows; merge does not transfer approval to the target. Review and link appropriate evidence to the combined requirement. Existing decisions and frozen draft snapshots stay in history, but their context becomes stale. Restore does not undo a later target edit. Archived rows are excluded from active sign-off, new outlines and active AI/research requirements. Saved response answers need reconciliation before another release. Do not archive an obligation just to remove a blocker: review the official source and document the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bidxapp.vercel.app/" TargetMode="External"/><Relationship Id="rId1" Type="http://schemas.openxmlformats.org/officeDocument/2006/relationships/image" Target="../media/image-1-1.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933"/>
        </a:solidFill>
      </p:bgPr>
    </p:bg>
    <p:spTree>
      <p:nvGrpSpPr>
        <p:cNvPr id="1" name=""/>
        <p:cNvGrpSpPr/>
        <p:nvPr/>
      </p:nvGrpSpPr>
      <p:grpSpPr>
        <a:xfrm>
          <a:off x="0" y="0"/>
          <a:ext cx="0" cy="0"/>
          <a:chOff x="0" y="0"/>
          <a:chExt cx="0" cy="0"/>
        </a:xfrm>
      </p:grpSpPr>
      <p:pic>
        <p:nvPicPr>
          <p:cNvPr id="3" name="Image 0" descr="C:\Users\jir92\BidXchange\apps\web\public\brand\bidxchange-icon.png">    </p:cNvPr>
          <p:cNvPicPr>
            <a:picLocks noChangeAspect="1"/>
          </p:cNvPicPr>
          <p:nvPr/>
        </p:nvPicPr>
        <p:blipFill>
          <a:blip r:embed="rId1"/>
          <a:stretch>
            <a:fillRect/>
          </a:stretch>
        </p:blipFill>
        <p:spPr>
          <a:xfrm>
            <a:off x="9372600" y="594360"/>
            <a:ext cx="2057400" cy="2057400"/>
          </a:xfrm>
          <a:prstGeom prst="rect">
            <a:avLst/>
          </a:prstGeom>
        </p:spPr>
      </p:pic>
      <p:sp>
        <p:nvSpPr>
          <p:cNvPr id="4" name="Text 0"/>
          <p:cNvSpPr/>
          <p:nvPr/>
        </p:nvSpPr>
        <p:spPr>
          <a:xfrm>
            <a:off x="640080" y="685800"/>
            <a:ext cx="8229600" cy="365760"/>
          </a:xfrm>
          <a:prstGeom prst="rect">
            <a:avLst/>
          </a:prstGeom>
          <a:noFill/>
          <a:ln/>
        </p:spPr>
        <p:txBody>
          <a:bodyPr wrap="square" lIns="0" tIns="0" rIns="0" bIns="0" rtlCol="0" anchor="t"/>
          <a:lstStyle/>
          <a:p>
            <a:pPr indent="0" marL="0">
              <a:buNone/>
            </a:pPr>
            <a:r>
              <a:rPr lang="en-US" sz="1300" b="1" dirty="0">
                <a:solidFill>
                  <a:srgbClr val="F2B337"/>
                </a:solidFill>
                <a:latin typeface="Aptos" pitchFamily="34" charset="0"/>
                <a:ea typeface="Aptos" pitchFamily="34" charset="-122"/>
                <a:cs typeface="Aptos" pitchFamily="34" charset="-120"/>
              </a:rPr>
              <a:t>CALIFORNIA CONTRACTOR EDITION</a:t>
            </a:r>
            <a:endParaRPr lang="en-US" sz="1300" dirty="0"/>
          </a:p>
        </p:txBody>
      </p:sp>
      <p:sp>
        <p:nvSpPr>
          <p:cNvPr id="5" name="Text 1"/>
          <p:cNvSpPr/>
          <p:nvPr/>
        </p:nvSpPr>
        <p:spPr>
          <a:xfrm>
            <a:off x="640080" y="1600200"/>
            <a:ext cx="8229600" cy="2103120"/>
          </a:xfrm>
          <a:prstGeom prst="rect">
            <a:avLst/>
          </a:prstGeom>
          <a:noFill/>
          <a:ln/>
        </p:spPr>
        <p:txBody>
          <a:bodyPr wrap="square" lIns="0" tIns="0" rIns="0" bIns="0" rtlCol="0" anchor="t"/>
          <a:lstStyle/>
          <a:p>
            <a:pPr indent="0" marL="0">
              <a:buNone/>
            </a:pPr>
            <a:r>
              <a:rPr lang="en-US" sz="4800" b="1" dirty="0">
                <a:solidFill>
                  <a:srgbClr val="FFFFFF"/>
                </a:solidFill>
                <a:latin typeface="Aptos" pitchFamily="34" charset="0"/>
                <a:ea typeface="Aptos" pitchFamily="34" charset="-122"/>
                <a:cs typeface="Aptos" pitchFamily="34" charset="-120"/>
              </a:rPr>
              <a:t>How to use</a:t>
            </a:r>
            <a:endParaRPr lang="en-US" sz="4800" dirty="0"/>
          </a:p>
          <a:p>
            <a:pPr indent="0" marL="0">
              <a:buNone/>
            </a:pPr>
            <a:r>
              <a:rPr lang="en-US" sz="4800" b="1" dirty="0">
                <a:solidFill>
                  <a:srgbClr val="FFFFFF"/>
                </a:solidFill>
                <a:latin typeface="Aptos" pitchFamily="34" charset="0"/>
                <a:ea typeface="Aptos" pitchFamily="34" charset="-122"/>
                <a:cs typeface="Aptos" pitchFamily="34" charset="-120"/>
              </a:rPr>
              <a:t>BidXchange</a:t>
            </a:r>
            <a:endParaRPr lang="en-US" sz="4800" dirty="0"/>
          </a:p>
        </p:txBody>
      </p:sp>
      <p:sp>
        <p:nvSpPr>
          <p:cNvPr id="6" name="Text 2"/>
          <p:cNvSpPr/>
          <p:nvPr/>
        </p:nvSpPr>
        <p:spPr>
          <a:xfrm>
            <a:off x="685800" y="4114800"/>
            <a:ext cx="9144000" cy="822960"/>
          </a:xfrm>
          <a:prstGeom prst="rect">
            <a:avLst/>
          </a:prstGeom>
          <a:noFill/>
          <a:ln/>
        </p:spPr>
        <p:txBody>
          <a:bodyPr wrap="square" lIns="0" tIns="0" rIns="0" bIns="0" rtlCol="0" anchor="t"/>
          <a:lstStyle/>
          <a:p>
            <a:pPr indent="0" marL="0">
              <a:buNone/>
            </a:pPr>
            <a:r>
              <a:rPr lang="en-US" sz="2500" dirty="0">
                <a:solidFill>
                  <a:srgbClr val="DDE5F4"/>
                </a:solidFill>
                <a:latin typeface="Aptos" pitchFamily="34" charset="0"/>
                <a:ea typeface="Aptos" pitchFamily="34" charset="-122"/>
                <a:cs typeface="Aptos" pitchFamily="34" charset="-120"/>
              </a:rPr>
              <a:t>A practical guide for California contractor teams</a:t>
            </a:r>
            <a:endParaRPr lang="en-US" sz="2500" dirty="0"/>
          </a:p>
        </p:txBody>
      </p:sp>
      <p:sp>
        <p:nvSpPr>
          <p:cNvPr id="7" name="Shape 3"/>
          <p:cNvSpPr/>
          <p:nvPr/>
        </p:nvSpPr>
        <p:spPr>
          <a:xfrm>
            <a:off x="685800" y="5486400"/>
            <a:ext cx="914400" cy="64008"/>
          </a:xfrm>
          <a:prstGeom prst="rect">
            <a:avLst/>
          </a:prstGeom>
          <a:solidFill>
            <a:srgbClr val="F2B337"/>
          </a:solidFill>
          <a:ln w="12700">
            <a:solidFill>
              <a:srgbClr val="F2B337">
                <a:alpha val="0"/>
              </a:srgbClr>
            </a:solidFill>
            <a:prstDash val="solid"/>
          </a:ln>
        </p:spPr>
      </p:sp>
      <p:sp>
        <p:nvSpPr>
          <p:cNvPr id="8" name="Text 4"/>
          <p:cNvSpPr/>
          <p:nvPr/>
        </p:nvSpPr>
        <p:spPr>
          <a:xfrm>
            <a:off x="685800" y="5760720"/>
            <a:ext cx="10058400" cy="320040"/>
          </a:xfrm>
          <a:prstGeom prst="rect">
            <a:avLst/>
          </a:prstGeom>
          <a:noFill/>
          <a:ln/>
        </p:spPr>
        <p:txBody>
          <a:bodyPr wrap="square" lIns="0" tIns="0" rIns="0" bIns="0" rtlCol="0" anchor="t"/>
          <a:lstStyle/>
          <a:p>
            <a:pPr indent="0" marL="0">
              <a:buNone/>
            </a:pPr>
            <a:r>
              <a:rPr lang="en-US" sz="1200" dirty="0">
                <a:solidFill>
                  <a:srgbClr val="DDE5F4"/>
                </a:solidFill>
                <a:latin typeface="Aptos" pitchFamily="34" charset="0"/>
                <a:ea typeface="Aptos" pitchFamily="34" charset="-122"/>
                <a:cs typeface="Aptos" pitchFamily="34" charset="-120"/>
              </a:rPr>
              <a:t>STEP-BY-STEP TRAINING  •  SEPTEMBER 2026</a:t>
            </a:r>
            <a:endParaRPr lang="en-US" sz="1200" dirty="0"/>
          </a:p>
        </p:txBody>
      </p:sp>
      <p:sp>
        <p:nvSpPr>
          <p:cNvPr id="9" name="Text 5">
            <a:hlinkClick r:id="rId2" tooltip=""/>
          </p:cNvPr>
          <p:cNvSpPr/>
          <p:nvPr/>
        </p:nvSpPr>
        <p:spPr>
          <a:xfrm>
            <a:off x="685800" y="6309360"/>
            <a:ext cx="9144000" cy="274320"/>
          </a:xfrm>
          <a:prstGeom prst="rect">
            <a:avLst/>
          </a:prstGeom>
          <a:noFill/>
          <a:ln/>
        </p:spPr>
        <p:txBody>
          <a:bodyPr wrap="square" lIns="0" tIns="0" rIns="0" bIns="0" rtlCol="0" anchor="t"/>
          <a:lstStyle/>
          <a:p>
            <a:pPr indent="0" marL="0">
              <a:buNone/>
            </a:pPr>
            <a:r>
              <a:rPr lang="en-US" sz="1400" u="sng" dirty="0">
                <a:solidFill>
                  <a:srgbClr val="F2B337"/>
                </a:solidFill>
                <a:latin typeface="Aptos" pitchFamily="34" charset="0"/>
                <a:ea typeface="Aptos" pitchFamily="34" charset="-122"/>
                <a:cs typeface="Aptos" pitchFamily="34" charset="-120"/>
                <a:hlinkClick r:id="rId2" invalidUrl="" action="" tgtFrame="" tooltip="" history="1" highlightClick="0" endSnd="0">
                  <a:extLst>
                    <a:ext uri="{A12FA001-AC4F-418D-AE19-62706E023703}">
                      <ahyp:hlinkClr xmlns:ahyp="http://schemas.microsoft.com/office/drawing/2018/hyperlinkcolor" val="tx"/>
                    </a:ext>
                  </a:extLst>
                </a:hlinkClick>
              </a:rPr>
              <a:t>Open BidXchange ↗</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YOUR WORKFLOW</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One bid. One connected review trail.</a:t>
            </a:r>
            <a:endParaRPr lang="en-US" sz="3000" dirty="0"/>
          </a:p>
        </p:txBody>
      </p:sp>
      <p:sp>
        <p:nvSpPr>
          <p:cNvPr id="6" name="Shape 3"/>
          <p:cNvSpPr/>
          <p:nvPr/>
        </p:nvSpPr>
        <p:spPr>
          <a:xfrm>
            <a:off x="594360" y="1856232"/>
            <a:ext cx="3520440" cy="3557016"/>
          </a:xfrm>
          <a:prstGeom prst="rect">
            <a:avLst/>
          </a:prstGeom>
          <a:solidFill>
            <a:srgbClr val="FFFFFF"/>
          </a:solidFill>
          <a:ln w="12700">
            <a:solidFill>
              <a:srgbClr val="FFFFFF">
                <a:alpha val="0"/>
              </a:srgbClr>
            </a:solidFill>
            <a:prstDash val="solid"/>
          </a:ln>
        </p:spPr>
      </p:sp>
      <p:sp>
        <p:nvSpPr>
          <p:cNvPr id="7" name="Shape 4"/>
          <p:cNvSpPr/>
          <p:nvPr/>
        </p:nvSpPr>
        <p:spPr>
          <a:xfrm>
            <a:off x="594360" y="1856232"/>
            <a:ext cx="54864" cy="3557016"/>
          </a:xfrm>
          <a:prstGeom prst="rect">
            <a:avLst/>
          </a:prstGeom>
          <a:solidFill>
            <a:srgbClr val="235AF5"/>
          </a:solidFill>
          <a:ln w="12700">
            <a:solidFill>
              <a:srgbClr val="235AF5">
                <a:alpha val="0"/>
              </a:srgbClr>
            </a:solidFill>
            <a:prstDash val="solid"/>
          </a:ln>
        </p:spPr>
      </p:sp>
      <p:sp>
        <p:nvSpPr>
          <p:cNvPr id="8" name="Text 5"/>
          <p:cNvSpPr/>
          <p:nvPr/>
        </p:nvSpPr>
        <p:spPr>
          <a:xfrm>
            <a:off x="80467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01</a:t>
            </a:r>
            <a:endParaRPr lang="en-US" sz="1300" dirty="0"/>
          </a:p>
        </p:txBody>
      </p:sp>
      <p:sp>
        <p:nvSpPr>
          <p:cNvPr id="9" name="Text 6"/>
          <p:cNvSpPr/>
          <p:nvPr/>
        </p:nvSpPr>
        <p:spPr>
          <a:xfrm>
            <a:off x="80467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Company → Opportunity</a:t>
            </a:r>
            <a:endParaRPr lang="en-US" sz="2200" dirty="0"/>
          </a:p>
        </p:txBody>
      </p:sp>
      <p:sp>
        <p:nvSpPr>
          <p:cNvPr id="10" name="Text 7"/>
          <p:cNvSpPr/>
          <p:nvPr/>
        </p:nvSpPr>
        <p:spPr>
          <a:xfrm>
            <a:off x="80467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Record reusable company evidence. Capture the buyer’s notice and official source.</a:t>
            </a:r>
            <a:endParaRPr lang="en-US" sz="1800" dirty="0"/>
          </a:p>
        </p:txBody>
      </p:sp>
      <p:sp>
        <p:nvSpPr>
          <p:cNvPr id="11" name="Shape 8"/>
          <p:cNvSpPr/>
          <p:nvPr/>
        </p:nvSpPr>
        <p:spPr>
          <a:xfrm>
            <a:off x="4343400" y="1856232"/>
            <a:ext cx="3520440" cy="3557016"/>
          </a:xfrm>
          <a:prstGeom prst="rect">
            <a:avLst/>
          </a:prstGeom>
          <a:solidFill>
            <a:srgbClr val="FFFFFF"/>
          </a:solidFill>
          <a:ln w="12700">
            <a:solidFill>
              <a:srgbClr val="FFFFFF">
                <a:alpha val="0"/>
              </a:srgbClr>
            </a:solidFill>
            <a:prstDash val="solid"/>
          </a:ln>
        </p:spPr>
      </p:sp>
      <p:sp>
        <p:nvSpPr>
          <p:cNvPr id="12" name="Shape 9"/>
          <p:cNvSpPr/>
          <p:nvPr/>
        </p:nvSpPr>
        <p:spPr>
          <a:xfrm>
            <a:off x="4343400" y="1856232"/>
            <a:ext cx="54864" cy="3557016"/>
          </a:xfrm>
          <a:prstGeom prst="rect">
            <a:avLst/>
          </a:prstGeom>
          <a:solidFill>
            <a:srgbClr val="F2B337"/>
          </a:solidFill>
          <a:ln w="12700">
            <a:solidFill>
              <a:srgbClr val="F2B337">
                <a:alpha val="0"/>
              </a:srgbClr>
            </a:solidFill>
            <a:prstDash val="solid"/>
          </a:ln>
        </p:spPr>
      </p:sp>
      <p:sp>
        <p:nvSpPr>
          <p:cNvPr id="13" name="Text 10"/>
          <p:cNvSpPr/>
          <p:nvPr/>
        </p:nvSpPr>
        <p:spPr>
          <a:xfrm>
            <a:off x="455371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02</a:t>
            </a:r>
            <a:endParaRPr lang="en-US" sz="1300" dirty="0"/>
          </a:p>
        </p:txBody>
      </p:sp>
      <p:sp>
        <p:nvSpPr>
          <p:cNvPr id="14" name="Text 11"/>
          <p:cNvSpPr/>
          <p:nvPr/>
        </p:nvSpPr>
        <p:spPr>
          <a:xfrm>
            <a:off x="455371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Requirements → Decision → Tasks</a:t>
            </a:r>
            <a:endParaRPr lang="en-US" sz="2200" dirty="0"/>
          </a:p>
        </p:txBody>
      </p:sp>
      <p:sp>
        <p:nvSpPr>
          <p:cNvPr id="15" name="Text 12"/>
          <p:cNvSpPr/>
          <p:nvPr/>
        </p:nvSpPr>
        <p:spPr>
          <a:xfrm>
            <a:off x="455371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Review the register, identify gaps, sign off and record human bid intent. Assign the remaining work.</a:t>
            </a:r>
            <a:endParaRPr lang="en-US" sz="1800" dirty="0"/>
          </a:p>
        </p:txBody>
      </p:sp>
      <p:sp>
        <p:nvSpPr>
          <p:cNvPr id="16" name="Shape 13"/>
          <p:cNvSpPr/>
          <p:nvPr/>
        </p:nvSpPr>
        <p:spPr>
          <a:xfrm>
            <a:off x="8092440" y="1856232"/>
            <a:ext cx="3520440" cy="3557016"/>
          </a:xfrm>
          <a:prstGeom prst="rect">
            <a:avLst/>
          </a:prstGeom>
          <a:solidFill>
            <a:srgbClr val="FFFFFF"/>
          </a:solidFill>
          <a:ln w="12700">
            <a:solidFill>
              <a:srgbClr val="FFFFFF">
                <a:alpha val="0"/>
              </a:srgbClr>
            </a:solidFill>
            <a:prstDash val="solid"/>
          </a:ln>
        </p:spPr>
      </p:sp>
      <p:sp>
        <p:nvSpPr>
          <p:cNvPr id="17" name="Shape 14"/>
          <p:cNvSpPr/>
          <p:nvPr/>
        </p:nvSpPr>
        <p:spPr>
          <a:xfrm>
            <a:off x="8092440" y="1856232"/>
            <a:ext cx="54864" cy="3557016"/>
          </a:xfrm>
          <a:prstGeom prst="rect">
            <a:avLst/>
          </a:prstGeom>
          <a:solidFill>
            <a:srgbClr val="235AF5"/>
          </a:solidFill>
          <a:ln w="12700">
            <a:solidFill>
              <a:srgbClr val="235AF5">
                <a:alpha val="0"/>
              </a:srgbClr>
            </a:solidFill>
            <a:prstDash val="solid"/>
          </a:ln>
        </p:spPr>
      </p:sp>
      <p:sp>
        <p:nvSpPr>
          <p:cNvPr id="18" name="Text 15"/>
          <p:cNvSpPr/>
          <p:nvPr/>
        </p:nvSpPr>
        <p:spPr>
          <a:xfrm>
            <a:off x="830275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03</a:t>
            </a:r>
            <a:endParaRPr lang="en-US" sz="1300" dirty="0"/>
          </a:p>
        </p:txBody>
      </p:sp>
      <p:sp>
        <p:nvSpPr>
          <p:cNvPr id="19" name="Text 16"/>
          <p:cNvSpPr/>
          <p:nvPr/>
        </p:nvSpPr>
        <p:spPr>
          <a:xfrm>
            <a:off x="830275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Draft → Approval → Submission record</a:t>
            </a:r>
            <a:endParaRPr lang="en-US" sz="2200" dirty="0"/>
          </a:p>
        </p:txBody>
      </p:sp>
      <p:sp>
        <p:nvSpPr>
          <p:cNvPr id="20" name="Text 17"/>
          <p:cNvSpPr/>
          <p:nvPr/>
        </p:nvSpPr>
        <p:spPr>
          <a:xfrm>
            <a:off x="830275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Prepare and review a specific response version. A person submits externally and records what happened.</a:t>
            </a:r>
            <a:endParaRPr lang="en-US" sz="1800" dirty="0"/>
          </a:p>
        </p:txBody>
      </p:sp>
      <p:sp>
        <p:nvSpPr>
          <p:cNvPr id="21" name="Shape 18"/>
          <p:cNvSpPr/>
          <p:nvPr/>
        </p:nvSpPr>
        <p:spPr>
          <a:xfrm>
            <a:off x="594360" y="5650992"/>
            <a:ext cx="11018520" cy="576072"/>
          </a:xfrm>
          <a:prstGeom prst="rect">
            <a:avLst/>
          </a:prstGeom>
          <a:solidFill>
            <a:srgbClr val="0D1933"/>
          </a:solidFill>
          <a:ln w="12700">
            <a:solidFill>
              <a:srgbClr val="0D1933">
                <a:alpha val="0"/>
              </a:srgbClr>
            </a:solidFill>
            <a:prstDash val="solid"/>
          </a:ln>
        </p:spPr>
      </p:sp>
      <p:sp>
        <p:nvSpPr>
          <p:cNvPr id="22" name="Text 19"/>
          <p:cNvSpPr/>
          <p:nvPr/>
        </p:nvSpPr>
        <p:spPr>
          <a:xfrm>
            <a:off x="777240" y="5779008"/>
            <a:ext cx="10607040" cy="374904"/>
          </a:xfrm>
          <a:prstGeom prst="rect">
            <a:avLst/>
          </a:prstGeom>
          <a:noFill/>
          <a:ln/>
        </p:spPr>
        <p:txBody>
          <a:bodyPr wrap="square" lIns="0" tIns="0" rIns="0" bIns="0" rtlCol="0" anchor="t"/>
          <a:lstStyle/>
          <a:p>
            <a:pPr indent="0" marL="0">
              <a:buNone/>
            </a:pPr>
            <a:r>
              <a:rPr lang="en-US" sz="1400" dirty="0">
                <a:solidFill>
                  <a:srgbClr val="FFFFFF"/>
                </a:solidFill>
                <a:latin typeface="Aptos" pitchFamily="34" charset="0"/>
                <a:ea typeface="Aptos" pitchFamily="34" charset="-122"/>
                <a:cs typeface="Aptos" pitchFamily="34" charset="-120"/>
              </a:rPr>
              <a:t>BidXchange organizes the work. People determine eligibility, price, approve, sign and submit.</a:t>
            </a:r>
            <a:endParaRPr lang="en-US" sz="1400" dirty="0"/>
          </a:p>
        </p:txBody>
      </p:sp>
      <p:sp>
        <p:nvSpPr>
          <p:cNvPr id="23" name="Text 2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24" name="Text 2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02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01 / GET STARTED</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Create or join your company</a:t>
            </a:r>
            <a:endParaRPr lang="en-US" sz="3000" dirty="0"/>
          </a:p>
        </p:txBody>
      </p:sp>
      <p:sp>
        <p:nvSpPr>
          <p:cNvPr id="6" name="Shape 3"/>
          <p:cNvSpPr/>
          <p:nvPr/>
        </p:nvSpPr>
        <p:spPr>
          <a:xfrm>
            <a:off x="594360" y="1856232"/>
            <a:ext cx="3520440" cy="3557016"/>
          </a:xfrm>
          <a:prstGeom prst="rect">
            <a:avLst/>
          </a:prstGeom>
          <a:solidFill>
            <a:srgbClr val="FFFFFF"/>
          </a:solidFill>
          <a:ln w="12700">
            <a:solidFill>
              <a:srgbClr val="FFFFFF">
                <a:alpha val="0"/>
              </a:srgbClr>
            </a:solidFill>
            <a:prstDash val="solid"/>
          </a:ln>
        </p:spPr>
      </p:sp>
      <p:sp>
        <p:nvSpPr>
          <p:cNvPr id="7" name="Shape 4"/>
          <p:cNvSpPr/>
          <p:nvPr/>
        </p:nvSpPr>
        <p:spPr>
          <a:xfrm>
            <a:off x="594360" y="1856232"/>
            <a:ext cx="54864" cy="3557016"/>
          </a:xfrm>
          <a:prstGeom prst="rect">
            <a:avLst/>
          </a:prstGeom>
          <a:solidFill>
            <a:srgbClr val="235AF5"/>
          </a:solidFill>
          <a:ln w="12700">
            <a:solidFill>
              <a:srgbClr val="235AF5">
                <a:alpha val="0"/>
              </a:srgbClr>
            </a:solidFill>
            <a:prstDash val="solid"/>
          </a:ln>
        </p:spPr>
      </p:sp>
      <p:sp>
        <p:nvSpPr>
          <p:cNvPr id="8" name="Text 5"/>
          <p:cNvSpPr/>
          <p:nvPr/>
        </p:nvSpPr>
        <p:spPr>
          <a:xfrm>
            <a:off x="80467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01</a:t>
            </a:r>
            <a:endParaRPr lang="en-US" sz="1300" dirty="0"/>
          </a:p>
        </p:txBody>
      </p:sp>
      <p:sp>
        <p:nvSpPr>
          <p:cNvPr id="9" name="Text 6"/>
          <p:cNvSpPr/>
          <p:nvPr/>
        </p:nvSpPr>
        <p:spPr>
          <a:xfrm>
            <a:off x="80467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Confirm your work email</a:t>
            </a:r>
            <a:endParaRPr lang="en-US" sz="2200" dirty="0"/>
          </a:p>
        </p:txBody>
      </p:sp>
      <p:sp>
        <p:nvSpPr>
          <p:cNvPr id="10" name="Text 7"/>
          <p:cNvSpPr/>
          <p:nvPr/>
        </p:nvSpPr>
        <p:spPr>
          <a:xfrm>
            <a:off x="80467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Open /signup for a new account or /login to sign in. Use the confirmation link or email code.</a:t>
            </a:r>
            <a:endParaRPr lang="en-US" sz="1800" dirty="0"/>
          </a:p>
        </p:txBody>
      </p:sp>
      <p:sp>
        <p:nvSpPr>
          <p:cNvPr id="11" name="Shape 8"/>
          <p:cNvSpPr/>
          <p:nvPr/>
        </p:nvSpPr>
        <p:spPr>
          <a:xfrm>
            <a:off x="4343400" y="1856232"/>
            <a:ext cx="3520440" cy="3557016"/>
          </a:xfrm>
          <a:prstGeom prst="rect">
            <a:avLst/>
          </a:prstGeom>
          <a:solidFill>
            <a:srgbClr val="FFFFFF"/>
          </a:solidFill>
          <a:ln w="12700">
            <a:solidFill>
              <a:srgbClr val="FFFFFF">
                <a:alpha val="0"/>
              </a:srgbClr>
            </a:solidFill>
            <a:prstDash val="solid"/>
          </a:ln>
        </p:spPr>
      </p:sp>
      <p:sp>
        <p:nvSpPr>
          <p:cNvPr id="12" name="Shape 9"/>
          <p:cNvSpPr/>
          <p:nvPr/>
        </p:nvSpPr>
        <p:spPr>
          <a:xfrm>
            <a:off x="4343400" y="1856232"/>
            <a:ext cx="54864" cy="3557016"/>
          </a:xfrm>
          <a:prstGeom prst="rect">
            <a:avLst/>
          </a:prstGeom>
          <a:solidFill>
            <a:srgbClr val="F2B337"/>
          </a:solidFill>
          <a:ln w="12700">
            <a:solidFill>
              <a:srgbClr val="F2B337">
                <a:alpha val="0"/>
              </a:srgbClr>
            </a:solidFill>
            <a:prstDash val="solid"/>
          </a:ln>
        </p:spPr>
      </p:sp>
      <p:sp>
        <p:nvSpPr>
          <p:cNvPr id="13" name="Text 10"/>
          <p:cNvSpPr/>
          <p:nvPr/>
        </p:nvSpPr>
        <p:spPr>
          <a:xfrm>
            <a:off x="455371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02</a:t>
            </a:r>
            <a:endParaRPr lang="en-US" sz="1300" dirty="0"/>
          </a:p>
        </p:txBody>
      </p:sp>
      <p:sp>
        <p:nvSpPr>
          <p:cNvPr id="14" name="Text 11"/>
          <p:cNvSpPr/>
          <p:nvPr/>
        </p:nvSpPr>
        <p:spPr>
          <a:xfrm>
            <a:off x="455371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Create or accept an invitation</a:t>
            </a:r>
            <a:endParaRPr lang="en-US" sz="2200" dirty="0"/>
          </a:p>
        </p:txBody>
      </p:sp>
      <p:sp>
        <p:nvSpPr>
          <p:cNvPr id="15" name="Text 12"/>
          <p:cNvSpPr/>
          <p:nvPr/>
        </p:nvSpPr>
        <p:spPr>
          <a:xfrm>
            <a:off x="455371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Open /onboarding. Create a company you administer, or accept the invitation for your exact confirmed email.</a:t>
            </a:r>
            <a:endParaRPr lang="en-US" sz="1800" dirty="0"/>
          </a:p>
        </p:txBody>
      </p:sp>
      <p:sp>
        <p:nvSpPr>
          <p:cNvPr id="16" name="Shape 13"/>
          <p:cNvSpPr/>
          <p:nvPr/>
        </p:nvSpPr>
        <p:spPr>
          <a:xfrm>
            <a:off x="8092440" y="1856232"/>
            <a:ext cx="3520440" cy="3557016"/>
          </a:xfrm>
          <a:prstGeom prst="rect">
            <a:avLst/>
          </a:prstGeom>
          <a:solidFill>
            <a:srgbClr val="FFFFFF"/>
          </a:solidFill>
          <a:ln w="12700">
            <a:solidFill>
              <a:srgbClr val="FFFFFF">
                <a:alpha val="0"/>
              </a:srgbClr>
            </a:solidFill>
            <a:prstDash val="solid"/>
          </a:ln>
        </p:spPr>
      </p:sp>
      <p:sp>
        <p:nvSpPr>
          <p:cNvPr id="17" name="Shape 14"/>
          <p:cNvSpPr/>
          <p:nvPr/>
        </p:nvSpPr>
        <p:spPr>
          <a:xfrm>
            <a:off x="8092440" y="1856232"/>
            <a:ext cx="54864" cy="3557016"/>
          </a:xfrm>
          <a:prstGeom prst="rect">
            <a:avLst/>
          </a:prstGeom>
          <a:solidFill>
            <a:srgbClr val="235AF5"/>
          </a:solidFill>
          <a:ln w="12700">
            <a:solidFill>
              <a:srgbClr val="235AF5">
                <a:alpha val="0"/>
              </a:srgbClr>
            </a:solidFill>
            <a:prstDash val="solid"/>
          </a:ln>
        </p:spPr>
      </p:sp>
      <p:sp>
        <p:nvSpPr>
          <p:cNvPr id="18" name="Text 15"/>
          <p:cNvSpPr/>
          <p:nvPr/>
        </p:nvSpPr>
        <p:spPr>
          <a:xfrm>
            <a:off x="830275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03</a:t>
            </a:r>
            <a:endParaRPr lang="en-US" sz="1300" dirty="0"/>
          </a:p>
        </p:txBody>
      </p:sp>
      <p:sp>
        <p:nvSpPr>
          <p:cNvPr id="19" name="Text 16"/>
          <p:cNvSpPr/>
          <p:nvPr/>
        </p:nvSpPr>
        <p:spPr>
          <a:xfrm>
            <a:off x="830275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Follow the setup checklist</a:t>
            </a:r>
            <a:endParaRPr lang="en-US" sz="2200" dirty="0"/>
          </a:p>
        </p:txBody>
      </p:sp>
      <p:sp>
        <p:nvSpPr>
          <p:cNvPr id="20" name="Text 17"/>
          <p:cNvSpPr/>
          <p:nvPr/>
        </p:nvSpPr>
        <p:spPr>
          <a:xfrm>
            <a:off x="830275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Open each Passport area, save supported evidence, then record your first opportunity. Confirm the selected company.</a:t>
            </a:r>
            <a:endParaRPr lang="en-US" sz="1800" dirty="0"/>
          </a:p>
        </p:txBody>
      </p:sp>
      <p:sp>
        <p:nvSpPr>
          <p:cNvPr id="21" name="Shape 18"/>
          <p:cNvSpPr/>
          <p:nvPr/>
        </p:nvSpPr>
        <p:spPr>
          <a:xfrm>
            <a:off x="594360" y="5650992"/>
            <a:ext cx="11018520" cy="576072"/>
          </a:xfrm>
          <a:prstGeom prst="rect">
            <a:avLst/>
          </a:prstGeom>
          <a:solidFill>
            <a:srgbClr val="0D1933"/>
          </a:solidFill>
          <a:ln w="12700">
            <a:solidFill>
              <a:srgbClr val="0D1933">
                <a:alpha val="0"/>
              </a:srgbClr>
            </a:solidFill>
            <a:prstDash val="solid"/>
          </a:ln>
        </p:spPr>
      </p:sp>
      <p:sp>
        <p:nvSpPr>
          <p:cNvPr id="22" name="Text 19"/>
          <p:cNvSpPr/>
          <p:nvPr/>
        </p:nvSpPr>
        <p:spPr>
          <a:xfrm>
            <a:off x="777240" y="5779008"/>
            <a:ext cx="10607040" cy="374904"/>
          </a:xfrm>
          <a:prstGeom prst="rect">
            <a:avLst/>
          </a:prstGeom>
          <a:noFill/>
          <a:ln/>
        </p:spPr>
        <p:txBody>
          <a:bodyPr wrap="square" lIns="0" tIns="0" rIns="0" bIns="0" rtlCol="0" anchor="t"/>
          <a:lstStyle/>
          <a:p>
            <a:pPr indent="0" marL="0">
              <a:buNone/>
            </a:pPr>
            <a:r>
              <a:rPr lang="en-US" sz="1400" dirty="0">
                <a:solidFill>
                  <a:srgbClr val="FFFFFF"/>
                </a:solidFill>
                <a:latin typeface="Aptos" pitchFamily="34" charset="0"/>
                <a:ea typeface="Aptos" pitchFamily="34" charset="-122"/>
                <a:cs typeface="Aptos" pitchFamily="34" charset="-120"/>
              </a:rPr>
              <a:t>Use the fictional demo to explore navigation—not to store real company information.</a:t>
            </a:r>
            <a:endParaRPr lang="en-US" sz="1400" dirty="0"/>
          </a:p>
        </p:txBody>
      </p:sp>
      <p:sp>
        <p:nvSpPr>
          <p:cNvPr id="23" name="Text 2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24" name="Text 2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03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02 / NAVIGATION</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Find your way around</a:t>
            </a:r>
            <a:endParaRPr lang="en-US" sz="3000" dirty="0"/>
          </a:p>
        </p:txBody>
      </p:sp>
      <p:pic>
        <p:nvPicPr>
          <p:cNvPr id="6" name="Image 0" descr="C:\Users\jir92\BidXchange\docs\presentations\how-to-assets\dashboard.png">    </p:cNvPr>
          <p:cNvPicPr>
            <a:picLocks noChangeAspect="1"/>
          </p:cNvPicPr>
          <p:nvPr/>
        </p:nvPicPr>
        <p:blipFill>
          <a:blip r:embed="rId1"/>
          <a:stretch>
            <a:fillRect/>
          </a:stretch>
        </p:blipFill>
        <p:spPr>
          <a:xfrm>
            <a:off x="502920" y="1645920"/>
            <a:ext cx="7525512" cy="4764024"/>
          </a:xfrm>
          <a:prstGeom prst="rect">
            <a:avLst/>
          </a:prstGeom>
        </p:spPr>
      </p:pic>
      <p:sp>
        <p:nvSpPr>
          <p:cNvPr id="7" name="Text 3"/>
          <p:cNvSpPr/>
          <p:nvPr/>
        </p:nvSpPr>
        <p:spPr>
          <a:xfrm>
            <a:off x="8257032" y="1755648"/>
            <a:ext cx="3310128" cy="384048"/>
          </a:xfrm>
          <a:prstGeom prst="rect">
            <a:avLst/>
          </a:prstGeom>
          <a:noFill/>
          <a:ln/>
        </p:spPr>
        <p:txBody>
          <a:bodyPr wrap="square" lIns="0" tIns="0" rIns="0" bIns="0" rtlCol="0" anchor="t"/>
          <a:lstStyle/>
          <a:p>
            <a:pPr indent="0" marL="0">
              <a:buNone/>
            </a:pPr>
            <a:r>
              <a:rPr lang="en-US" sz="1900" b="1" dirty="0">
                <a:solidFill>
                  <a:srgbClr val="235AF5"/>
                </a:solidFill>
                <a:latin typeface="Aptos" pitchFamily="34" charset="0"/>
                <a:ea typeface="Aptos" pitchFamily="34" charset="-122"/>
                <a:cs typeface="Aptos" pitchFamily="34" charset="-120"/>
              </a:rPr>
              <a:t>Today</a:t>
            </a:r>
            <a:endParaRPr lang="en-US" sz="1900" dirty="0"/>
          </a:p>
        </p:txBody>
      </p:sp>
      <p:sp>
        <p:nvSpPr>
          <p:cNvPr id="8" name="Text 4"/>
          <p:cNvSpPr/>
          <p:nvPr/>
        </p:nvSpPr>
        <p:spPr>
          <a:xfrm>
            <a:off x="8257032" y="2185416"/>
            <a:ext cx="3310128" cy="777240"/>
          </a:xfrm>
          <a:prstGeom prst="rect">
            <a:avLst/>
          </a:prstGeom>
          <a:noFill/>
          <a:ln/>
        </p:spPr>
        <p:txBody>
          <a:bodyPr wrap="square" lIns="0" tIns="0" rIns="0" bIns="0" rtlCol="0" anchor="t"/>
          <a:lstStyle/>
          <a:p>
            <a:pPr indent="0" marL="0">
              <a:buNone/>
            </a:pPr>
            <a:r>
              <a:rPr lang="en-US" sz="1600" dirty="0">
                <a:solidFill>
                  <a:srgbClr val="172641"/>
                </a:solidFill>
                <a:latin typeface="Aptos" pitchFamily="34" charset="0"/>
                <a:ea typeface="Aptos" pitchFamily="34" charset="-122"/>
                <a:cs typeface="Aptos" pitchFamily="34" charset="-120"/>
              </a:rPr>
              <a:t>Start with deadlines, open work and evidence that needs attention.</a:t>
            </a:r>
            <a:endParaRPr lang="en-US" sz="1600" dirty="0"/>
          </a:p>
        </p:txBody>
      </p:sp>
      <p:sp>
        <p:nvSpPr>
          <p:cNvPr id="9" name="Text 5"/>
          <p:cNvSpPr/>
          <p:nvPr/>
        </p:nvSpPr>
        <p:spPr>
          <a:xfrm>
            <a:off x="8257032" y="3008376"/>
            <a:ext cx="3310128" cy="384048"/>
          </a:xfrm>
          <a:prstGeom prst="rect">
            <a:avLst/>
          </a:prstGeom>
          <a:noFill/>
          <a:ln/>
        </p:spPr>
        <p:txBody>
          <a:bodyPr wrap="square" lIns="0" tIns="0" rIns="0" bIns="0" rtlCol="0" anchor="t"/>
          <a:lstStyle/>
          <a:p>
            <a:pPr indent="0" marL="0">
              <a:buNone/>
            </a:pPr>
            <a:r>
              <a:rPr lang="en-US" sz="1900" b="1" dirty="0">
                <a:solidFill>
                  <a:srgbClr val="235AF5"/>
                </a:solidFill>
                <a:latin typeface="Aptos" pitchFamily="34" charset="0"/>
                <a:ea typeface="Aptos" pitchFamily="34" charset="-122"/>
                <a:cs typeface="Aptos" pitchFamily="34" charset="-120"/>
              </a:rPr>
              <a:t>Your bid workspace</a:t>
            </a:r>
            <a:endParaRPr lang="en-US" sz="1900" dirty="0"/>
          </a:p>
        </p:txBody>
      </p:sp>
      <p:sp>
        <p:nvSpPr>
          <p:cNvPr id="10" name="Text 6"/>
          <p:cNvSpPr/>
          <p:nvPr/>
        </p:nvSpPr>
        <p:spPr>
          <a:xfrm>
            <a:off x="8257032" y="3438144"/>
            <a:ext cx="3310128" cy="777240"/>
          </a:xfrm>
          <a:prstGeom prst="rect">
            <a:avLst/>
          </a:prstGeom>
          <a:noFill/>
          <a:ln/>
        </p:spPr>
        <p:txBody>
          <a:bodyPr wrap="square" lIns="0" tIns="0" rIns="0" bIns="0" rtlCol="0" anchor="t"/>
          <a:lstStyle/>
          <a:p>
            <a:pPr indent="0" marL="0">
              <a:buNone/>
            </a:pPr>
            <a:r>
              <a:rPr lang="en-US" sz="1600" dirty="0">
                <a:solidFill>
                  <a:srgbClr val="172641"/>
                </a:solidFill>
                <a:latin typeface="Aptos" pitchFamily="34" charset="0"/>
                <a:ea typeface="Aptos" pitchFamily="34" charset="-122"/>
                <a:cs typeface="Aptos" pitchFamily="34" charset="-120"/>
              </a:rPr>
              <a:t>Company: evidence.</a:t>
            </a:r>
            <a:endParaRPr lang="en-US" sz="1600" dirty="0"/>
          </a:p>
          <a:p>
            <a:pPr indent="0" marL="0">
              <a:buNone/>
            </a:pPr>
            <a:r>
              <a:rPr lang="en-US" sz="1600" dirty="0">
                <a:solidFill>
                  <a:srgbClr val="172641"/>
                </a:solidFill>
                <a:latin typeface="Aptos" pitchFamily="34" charset="0"/>
                <a:ea typeface="Aptos" pitchFamily="34" charset="-122"/>
                <a:cs typeface="Aptos" pitchFamily="34" charset="-120"/>
              </a:rPr>
              <a:t>Opportunities: notices.</a:t>
            </a:r>
            <a:endParaRPr lang="en-US" sz="1600" dirty="0"/>
          </a:p>
          <a:p>
            <a:pPr indent="0" marL="0">
              <a:buNone/>
            </a:pPr>
            <a:r>
              <a:rPr lang="en-US" sz="1600" dirty="0">
                <a:solidFill>
                  <a:srgbClr val="172641"/>
                </a:solidFill>
                <a:latin typeface="Aptos" pitchFamily="34" charset="0"/>
                <a:ea typeface="Aptos" pitchFamily="34" charset="-122"/>
                <a:cs typeface="Aptos" pitchFamily="34" charset="-120"/>
              </a:rPr>
              <a:t>Pursuits: reviews and drafts.</a:t>
            </a:r>
            <a:endParaRPr lang="en-US" sz="1600" dirty="0"/>
          </a:p>
        </p:txBody>
      </p:sp>
      <p:sp>
        <p:nvSpPr>
          <p:cNvPr id="11" name="Text 7"/>
          <p:cNvSpPr/>
          <p:nvPr/>
        </p:nvSpPr>
        <p:spPr>
          <a:xfrm>
            <a:off x="8257032" y="4261104"/>
            <a:ext cx="3310128" cy="384048"/>
          </a:xfrm>
          <a:prstGeom prst="rect">
            <a:avLst/>
          </a:prstGeom>
          <a:noFill/>
          <a:ln/>
        </p:spPr>
        <p:txBody>
          <a:bodyPr wrap="square" lIns="0" tIns="0" rIns="0" bIns="0" rtlCol="0" anchor="t"/>
          <a:lstStyle/>
          <a:p>
            <a:pPr indent="0" marL="0">
              <a:buNone/>
            </a:pPr>
            <a:r>
              <a:rPr lang="en-US" sz="1900" b="1" dirty="0">
                <a:solidFill>
                  <a:srgbClr val="235AF5"/>
                </a:solidFill>
                <a:latin typeface="Aptos" pitchFamily="34" charset="0"/>
                <a:ea typeface="Aptos" pitchFamily="34" charset="-122"/>
                <a:cs typeface="Aptos" pitchFamily="34" charset="-120"/>
              </a:rPr>
              <a:t>Assistant</a:t>
            </a:r>
            <a:endParaRPr lang="en-US" sz="1900" dirty="0"/>
          </a:p>
        </p:txBody>
      </p:sp>
      <p:sp>
        <p:nvSpPr>
          <p:cNvPr id="12" name="Text 8"/>
          <p:cNvSpPr/>
          <p:nvPr/>
        </p:nvSpPr>
        <p:spPr>
          <a:xfrm>
            <a:off x="8257032" y="4690872"/>
            <a:ext cx="3310128" cy="777240"/>
          </a:xfrm>
          <a:prstGeom prst="rect">
            <a:avLst/>
          </a:prstGeom>
          <a:noFill/>
          <a:ln/>
        </p:spPr>
        <p:txBody>
          <a:bodyPr wrap="square" lIns="0" tIns="0" rIns="0" bIns="0" rtlCol="0" anchor="t"/>
          <a:lstStyle/>
          <a:p>
            <a:pPr indent="0" marL="0">
              <a:buNone/>
            </a:pPr>
            <a:r>
              <a:rPr lang="en-US" sz="1600" dirty="0">
                <a:solidFill>
                  <a:srgbClr val="172641"/>
                </a:solidFill>
                <a:latin typeface="Aptos" pitchFamily="34" charset="0"/>
                <a:ea typeface="Aptos" pitchFamily="34" charset="-122"/>
                <a:cs typeface="Aptos" pitchFamily="34" charset="-120"/>
              </a:rPr>
              <a:t>Ask general questions or select Workspace records for authorized company context.</a:t>
            </a:r>
            <a:endParaRPr lang="en-US" sz="1600" dirty="0"/>
          </a:p>
        </p:txBody>
      </p:sp>
      <p:sp>
        <p:nvSpPr>
          <p:cNvPr id="13" name="Text 9"/>
          <p:cNvSpPr/>
          <p:nvPr/>
        </p:nvSpPr>
        <p:spPr>
          <a:xfrm>
            <a:off x="8257032" y="5650992"/>
            <a:ext cx="3291840" cy="621792"/>
          </a:xfrm>
          <a:prstGeom prst="rect">
            <a:avLst/>
          </a:prstGeom>
          <a:noFill/>
          <a:ln/>
        </p:spPr>
        <p:txBody>
          <a:bodyPr wrap="square" lIns="0" tIns="0" rIns="0" bIns="0" rtlCol="0" anchor="t"/>
          <a:lstStyle/>
          <a:p>
            <a:pPr indent="0" marL="0">
              <a:buNone/>
            </a:pPr>
            <a:r>
              <a:rPr lang="en-US" sz="1100" dirty="0">
                <a:solidFill>
                  <a:srgbClr val="506178"/>
                </a:solidFill>
                <a:latin typeface="Aptos" pitchFamily="34" charset="0"/>
                <a:ea typeface="Aptos" pitchFamily="34" charset="-122"/>
                <a:cs typeface="Aptos" pitchFamily="34" charset="-120"/>
              </a:rPr>
              <a:t>Live public-demo screenshot · all displayed company and bid data are fictional.</a:t>
            </a:r>
            <a:endParaRPr lang="en-US" sz="1100" dirty="0"/>
          </a:p>
        </p:txBody>
      </p:sp>
      <p:sp>
        <p:nvSpPr>
          <p:cNvPr id="14" name="Text 1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15" name="Text 1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04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03 / COMPANY</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Start with the Company Passport</a:t>
            </a:r>
            <a:endParaRPr lang="en-US" sz="3000" dirty="0"/>
          </a:p>
        </p:txBody>
      </p:sp>
      <p:sp>
        <p:nvSpPr>
          <p:cNvPr id="6" name="Shape 3"/>
          <p:cNvSpPr/>
          <p:nvPr/>
        </p:nvSpPr>
        <p:spPr>
          <a:xfrm>
            <a:off x="594360" y="1856232"/>
            <a:ext cx="3520440" cy="3557016"/>
          </a:xfrm>
          <a:prstGeom prst="rect">
            <a:avLst/>
          </a:prstGeom>
          <a:solidFill>
            <a:srgbClr val="FFFFFF"/>
          </a:solidFill>
          <a:ln w="12700">
            <a:solidFill>
              <a:srgbClr val="FFFFFF">
                <a:alpha val="0"/>
              </a:srgbClr>
            </a:solidFill>
            <a:prstDash val="solid"/>
          </a:ln>
        </p:spPr>
      </p:sp>
      <p:sp>
        <p:nvSpPr>
          <p:cNvPr id="7" name="Shape 4"/>
          <p:cNvSpPr/>
          <p:nvPr/>
        </p:nvSpPr>
        <p:spPr>
          <a:xfrm>
            <a:off x="594360" y="1856232"/>
            <a:ext cx="54864" cy="3557016"/>
          </a:xfrm>
          <a:prstGeom prst="rect">
            <a:avLst/>
          </a:prstGeom>
          <a:solidFill>
            <a:srgbClr val="235AF5"/>
          </a:solidFill>
          <a:ln w="12700">
            <a:solidFill>
              <a:srgbClr val="235AF5">
                <a:alpha val="0"/>
              </a:srgbClr>
            </a:solidFill>
            <a:prstDash val="solid"/>
          </a:ln>
        </p:spPr>
      </p:sp>
      <p:sp>
        <p:nvSpPr>
          <p:cNvPr id="8" name="Text 5"/>
          <p:cNvSpPr/>
          <p:nvPr/>
        </p:nvSpPr>
        <p:spPr>
          <a:xfrm>
            <a:off x="80467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01</a:t>
            </a:r>
            <a:endParaRPr lang="en-US" sz="1300" dirty="0"/>
          </a:p>
        </p:txBody>
      </p:sp>
      <p:sp>
        <p:nvSpPr>
          <p:cNvPr id="9" name="Text 6"/>
          <p:cNvSpPr/>
          <p:nvPr/>
        </p:nvSpPr>
        <p:spPr>
          <a:xfrm>
            <a:off x="80467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Identity and registrations</a:t>
            </a:r>
            <a:endParaRPr lang="en-US" sz="2200" dirty="0"/>
          </a:p>
        </p:txBody>
      </p:sp>
      <p:sp>
        <p:nvSpPr>
          <p:cNvPr id="10" name="Text 7"/>
          <p:cNvSpPr/>
          <p:nvPr/>
        </p:nvSpPr>
        <p:spPr>
          <a:xfrm>
            <a:off x="80467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Enter legal name, DBA, entity type and headquarters. Record SAM/UEI and DIR status as claimed.</a:t>
            </a:r>
            <a:endParaRPr lang="en-US" sz="1800" dirty="0"/>
          </a:p>
        </p:txBody>
      </p:sp>
      <p:sp>
        <p:nvSpPr>
          <p:cNvPr id="11" name="Shape 8"/>
          <p:cNvSpPr/>
          <p:nvPr/>
        </p:nvSpPr>
        <p:spPr>
          <a:xfrm>
            <a:off x="4343400" y="1856232"/>
            <a:ext cx="3520440" cy="3557016"/>
          </a:xfrm>
          <a:prstGeom prst="rect">
            <a:avLst/>
          </a:prstGeom>
          <a:solidFill>
            <a:srgbClr val="FFFFFF"/>
          </a:solidFill>
          <a:ln w="12700">
            <a:solidFill>
              <a:srgbClr val="FFFFFF">
                <a:alpha val="0"/>
              </a:srgbClr>
            </a:solidFill>
            <a:prstDash val="solid"/>
          </a:ln>
        </p:spPr>
      </p:sp>
      <p:sp>
        <p:nvSpPr>
          <p:cNvPr id="12" name="Shape 9"/>
          <p:cNvSpPr/>
          <p:nvPr/>
        </p:nvSpPr>
        <p:spPr>
          <a:xfrm>
            <a:off x="4343400" y="1856232"/>
            <a:ext cx="54864" cy="3557016"/>
          </a:xfrm>
          <a:prstGeom prst="rect">
            <a:avLst/>
          </a:prstGeom>
          <a:solidFill>
            <a:srgbClr val="F2B337"/>
          </a:solidFill>
          <a:ln w="12700">
            <a:solidFill>
              <a:srgbClr val="F2B337">
                <a:alpha val="0"/>
              </a:srgbClr>
            </a:solidFill>
            <a:prstDash val="solid"/>
          </a:ln>
        </p:spPr>
      </p:sp>
      <p:sp>
        <p:nvSpPr>
          <p:cNvPr id="13" name="Text 10"/>
          <p:cNvSpPr/>
          <p:nvPr/>
        </p:nvSpPr>
        <p:spPr>
          <a:xfrm>
            <a:off x="455371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02</a:t>
            </a:r>
            <a:endParaRPr lang="en-US" sz="1300" dirty="0"/>
          </a:p>
        </p:txBody>
      </p:sp>
      <p:sp>
        <p:nvSpPr>
          <p:cNvPr id="14" name="Text 11"/>
          <p:cNvSpPr/>
          <p:nvPr/>
        </p:nvSpPr>
        <p:spPr>
          <a:xfrm>
            <a:off x="455371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License, territory and services</a:t>
            </a:r>
            <a:endParaRPr lang="en-US" sz="2200" dirty="0"/>
          </a:p>
        </p:txBody>
      </p:sp>
      <p:sp>
        <p:nvSpPr>
          <p:cNvPr id="15" name="Text 12"/>
          <p:cNvSpPr/>
          <p:nvPr/>
        </p:nvSpPr>
        <p:spPr>
          <a:xfrm>
            <a:off x="455371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Record CSLB number/classifications, expiration, counties or travel radius, and service/NAICS descriptions.</a:t>
            </a:r>
            <a:endParaRPr lang="en-US" sz="1800" dirty="0"/>
          </a:p>
        </p:txBody>
      </p:sp>
      <p:sp>
        <p:nvSpPr>
          <p:cNvPr id="16" name="Shape 13"/>
          <p:cNvSpPr/>
          <p:nvPr/>
        </p:nvSpPr>
        <p:spPr>
          <a:xfrm>
            <a:off x="8092440" y="1856232"/>
            <a:ext cx="3520440" cy="3557016"/>
          </a:xfrm>
          <a:prstGeom prst="rect">
            <a:avLst/>
          </a:prstGeom>
          <a:solidFill>
            <a:srgbClr val="FFFFFF"/>
          </a:solidFill>
          <a:ln w="12700">
            <a:solidFill>
              <a:srgbClr val="FFFFFF">
                <a:alpha val="0"/>
              </a:srgbClr>
            </a:solidFill>
            <a:prstDash val="solid"/>
          </a:ln>
        </p:spPr>
      </p:sp>
      <p:sp>
        <p:nvSpPr>
          <p:cNvPr id="17" name="Shape 14"/>
          <p:cNvSpPr/>
          <p:nvPr/>
        </p:nvSpPr>
        <p:spPr>
          <a:xfrm>
            <a:off x="8092440" y="1856232"/>
            <a:ext cx="54864" cy="3557016"/>
          </a:xfrm>
          <a:prstGeom prst="rect">
            <a:avLst/>
          </a:prstGeom>
          <a:solidFill>
            <a:srgbClr val="235AF5"/>
          </a:solidFill>
          <a:ln w="12700">
            <a:solidFill>
              <a:srgbClr val="235AF5">
                <a:alpha val="0"/>
              </a:srgbClr>
            </a:solidFill>
            <a:prstDash val="solid"/>
          </a:ln>
        </p:spPr>
      </p:sp>
      <p:sp>
        <p:nvSpPr>
          <p:cNvPr id="18" name="Text 15"/>
          <p:cNvSpPr/>
          <p:nvPr/>
        </p:nvSpPr>
        <p:spPr>
          <a:xfrm>
            <a:off x="830275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03</a:t>
            </a:r>
            <a:endParaRPr lang="en-US" sz="1300" dirty="0"/>
          </a:p>
        </p:txBody>
      </p:sp>
      <p:sp>
        <p:nvSpPr>
          <p:cNvPr id="19" name="Text 16"/>
          <p:cNvSpPr/>
          <p:nvPr/>
        </p:nvSpPr>
        <p:spPr>
          <a:xfrm>
            <a:off x="830275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Coverage and experience</a:t>
            </a:r>
            <a:endParaRPr lang="en-US" sz="2200" dirty="0"/>
          </a:p>
        </p:txBody>
      </p:sp>
      <p:sp>
        <p:nvSpPr>
          <p:cNvPr id="20" name="Text 17"/>
          <p:cNvSpPr/>
          <p:nvPr/>
        </p:nvSpPr>
        <p:spPr>
          <a:xfrm>
            <a:off x="830275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Add bonding bands, GL/workers’ compensation/auto expiration dates, and three past projects.</a:t>
            </a:r>
            <a:endParaRPr lang="en-US" sz="1800" dirty="0"/>
          </a:p>
        </p:txBody>
      </p:sp>
      <p:sp>
        <p:nvSpPr>
          <p:cNvPr id="21" name="Shape 18"/>
          <p:cNvSpPr/>
          <p:nvPr/>
        </p:nvSpPr>
        <p:spPr>
          <a:xfrm>
            <a:off x="594360" y="5650992"/>
            <a:ext cx="11018520" cy="576072"/>
          </a:xfrm>
          <a:prstGeom prst="rect">
            <a:avLst/>
          </a:prstGeom>
          <a:solidFill>
            <a:srgbClr val="0D1933"/>
          </a:solidFill>
          <a:ln w="12700">
            <a:solidFill>
              <a:srgbClr val="0D1933">
                <a:alpha val="0"/>
              </a:srgbClr>
            </a:solidFill>
            <a:prstDash val="solid"/>
          </a:ln>
        </p:spPr>
      </p:sp>
      <p:sp>
        <p:nvSpPr>
          <p:cNvPr id="22" name="Text 19"/>
          <p:cNvSpPr/>
          <p:nvPr/>
        </p:nvSpPr>
        <p:spPr>
          <a:xfrm>
            <a:off x="777240" y="5779008"/>
            <a:ext cx="10607040" cy="374904"/>
          </a:xfrm>
          <a:prstGeom prst="rect">
            <a:avLst/>
          </a:prstGeom>
          <a:noFill/>
          <a:ln/>
        </p:spPr>
        <p:txBody>
          <a:bodyPr wrap="square" lIns="0" tIns="0" rIns="0" bIns="0" rtlCol="0" anchor="t"/>
          <a:lstStyle/>
          <a:p>
            <a:pPr indent="0" marL="0">
              <a:buNone/>
            </a:pPr>
            <a:r>
              <a:rPr lang="en-US" sz="1400" dirty="0">
                <a:solidFill>
                  <a:srgbClr val="FFFFFF"/>
                </a:solidFill>
                <a:latin typeface="Aptos" pitchFamily="34" charset="0"/>
                <a:ea typeface="Aptos" pitchFamily="34" charset="-122"/>
                <a:cs typeface="Aptos" pitchFamily="34" charset="-120"/>
              </a:rPr>
              <a:t>Open Company → California Contractor Passport. Use “Add when needed” for advanced evidence.</a:t>
            </a:r>
            <a:endParaRPr lang="en-US" sz="1400" dirty="0"/>
          </a:p>
        </p:txBody>
      </p:sp>
      <p:sp>
        <p:nvSpPr>
          <p:cNvPr id="23" name="Text 2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24" name="Text 2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05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03 / COMPANY</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Save evidence with a source</a:t>
            </a:r>
            <a:endParaRPr lang="en-US" sz="3000" dirty="0"/>
          </a:p>
        </p:txBody>
      </p:sp>
      <p:sp>
        <p:nvSpPr>
          <p:cNvPr id="6" name="Shape 3"/>
          <p:cNvSpPr/>
          <p:nvPr/>
        </p:nvSpPr>
        <p:spPr>
          <a:xfrm>
            <a:off x="594360" y="1856232"/>
            <a:ext cx="3520440" cy="3557016"/>
          </a:xfrm>
          <a:prstGeom prst="rect">
            <a:avLst/>
          </a:prstGeom>
          <a:solidFill>
            <a:srgbClr val="FFFFFF"/>
          </a:solidFill>
          <a:ln w="12700">
            <a:solidFill>
              <a:srgbClr val="FFFFFF">
                <a:alpha val="0"/>
              </a:srgbClr>
            </a:solidFill>
            <a:prstDash val="solid"/>
          </a:ln>
        </p:spPr>
      </p:sp>
      <p:sp>
        <p:nvSpPr>
          <p:cNvPr id="7" name="Shape 4"/>
          <p:cNvSpPr/>
          <p:nvPr/>
        </p:nvSpPr>
        <p:spPr>
          <a:xfrm>
            <a:off x="594360" y="1856232"/>
            <a:ext cx="54864" cy="3557016"/>
          </a:xfrm>
          <a:prstGeom prst="rect">
            <a:avLst/>
          </a:prstGeom>
          <a:solidFill>
            <a:srgbClr val="235AF5"/>
          </a:solidFill>
          <a:ln w="12700">
            <a:solidFill>
              <a:srgbClr val="235AF5">
                <a:alpha val="0"/>
              </a:srgbClr>
            </a:solidFill>
            <a:prstDash val="solid"/>
          </a:ln>
        </p:spPr>
      </p:sp>
      <p:sp>
        <p:nvSpPr>
          <p:cNvPr id="8" name="Text 5"/>
          <p:cNvSpPr/>
          <p:nvPr/>
        </p:nvSpPr>
        <p:spPr>
          <a:xfrm>
            <a:off x="80467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01</a:t>
            </a:r>
            <a:endParaRPr lang="en-US" sz="1300" dirty="0"/>
          </a:p>
        </p:txBody>
      </p:sp>
      <p:sp>
        <p:nvSpPr>
          <p:cNvPr id="9" name="Text 6"/>
          <p:cNvSpPr/>
          <p:nvPr/>
        </p:nvSpPr>
        <p:spPr>
          <a:xfrm>
            <a:off x="80467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Add what you can support</a:t>
            </a:r>
            <a:endParaRPr lang="en-US" sz="2200" dirty="0"/>
          </a:p>
        </p:txBody>
      </p:sp>
      <p:sp>
        <p:nvSpPr>
          <p:cNvPr id="10" name="Text 7"/>
          <p:cNvSpPr/>
          <p:nvPr/>
        </p:nvSpPr>
        <p:spPr>
          <a:xfrm>
            <a:off x="80467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Open the relevant Passport item. Enter the structured fields and a useful record label.</a:t>
            </a:r>
            <a:endParaRPr lang="en-US" sz="1800" dirty="0"/>
          </a:p>
        </p:txBody>
      </p:sp>
      <p:sp>
        <p:nvSpPr>
          <p:cNvPr id="11" name="Shape 8"/>
          <p:cNvSpPr/>
          <p:nvPr/>
        </p:nvSpPr>
        <p:spPr>
          <a:xfrm>
            <a:off x="4343400" y="1856232"/>
            <a:ext cx="3520440" cy="3557016"/>
          </a:xfrm>
          <a:prstGeom prst="rect">
            <a:avLst/>
          </a:prstGeom>
          <a:solidFill>
            <a:srgbClr val="FFFFFF"/>
          </a:solidFill>
          <a:ln w="12700">
            <a:solidFill>
              <a:srgbClr val="FFFFFF">
                <a:alpha val="0"/>
              </a:srgbClr>
            </a:solidFill>
            <a:prstDash val="solid"/>
          </a:ln>
        </p:spPr>
      </p:sp>
      <p:sp>
        <p:nvSpPr>
          <p:cNvPr id="12" name="Shape 9"/>
          <p:cNvSpPr/>
          <p:nvPr/>
        </p:nvSpPr>
        <p:spPr>
          <a:xfrm>
            <a:off x="4343400" y="1856232"/>
            <a:ext cx="54864" cy="3557016"/>
          </a:xfrm>
          <a:prstGeom prst="rect">
            <a:avLst/>
          </a:prstGeom>
          <a:solidFill>
            <a:srgbClr val="F2B337"/>
          </a:solidFill>
          <a:ln w="12700">
            <a:solidFill>
              <a:srgbClr val="F2B337">
                <a:alpha val="0"/>
              </a:srgbClr>
            </a:solidFill>
            <a:prstDash val="solid"/>
          </a:ln>
        </p:spPr>
      </p:sp>
      <p:sp>
        <p:nvSpPr>
          <p:cNvPr id="13" name="Text 10"/>
          <p:cNvSpPr/>
          <p:nvPr/>
        </p:nvSpPr>
        <p:spPr>
          <a:xfrm>
            <a:off x="455371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02</a:t>
            </a:r>
            <a:endParaRPr lang="en-US" sz="1300" dirty="0"/>
          </a:p>
        </p:txBody>
      </p:sp>
      <p:sp>
        <p:nvSpPr>
          <p:cNvPr id="14" name="Text 11"/>
          <p:cNvSpPr/>
          <p:nvPr/>
        </p:nvSpPr>
        <p:spPr>
          <a:xfrm>
            <a:off x="455371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Keep its provenance</a:t>
            </a:r>
            <a:endParaRPr lang="en-US" sz="2200" dirty="0"/>
          </a:p>
        </p:txBody>
      </p:sp>
      <p:sp>
        <p:nvSpPr>
          <p:cNvPr id="15" name="Text 12"/>
          <p:cNvSpPr/>
          <p:nvPr/>
        </p:nvSpPr>
        <p:spPr>
          <a:xfrm>
            <a:off x="455371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Record the source reference or note, dates, owner and permitted visibility. Save the evidence record.</a:t>
            </a:r>
            <a:endParaRPr lang="en-US" sz="1800" dirty="0"/>
          </a:p>
        </p:txBody>
      </p:sp>
      <p:sp>
        <p:nvSpPr>
          <p:cNvPr id="16" name="Shape 13"/>
          <p:cNvSpPr/>
          <p:nvPr/>
        </p:nvSpPr>
        <p:spPr>
          <a:xfrm>
            <a:off x="8092440" y="1856232"/>
            <a:ext cx="3520440" cy="3557016"/>
          </a:xfrm>
          <a:prstGeom prst="rect">
            <a:avLst/>
          </a:prstGeom>
          <a:solidFill>
            <a:srgbClr val="FFFFFF"/>
          </a:solidFill>
          <a:ln w="12700">
            <a:solidFill>
              <a:srgbClr val="FFFFFF">
                <a:alpha val="0"/>
              </a:srgbClr>
            </a:solidFill>
            <a:prstDash val="solid"/>
          </a:ln>
        </p:spPr>
      </p:sp>
      <p:sp>
        <p:nvSpPr>
          <p:cNvPr id="17" name="Shape 14"/>
          <p:cNvSpPr/>
          <p:nvPr/>
        </p:nvSpPr>
        <p:spPr>
          <a:xfrm>
            <a:off x="8092440" y="1856232"/>
            <a:ext cx="54864" cy="3557016"/>
          </a:xfrm>
          <a:prstGeom prst="rect">
            <a:avLst/>
          </a:prstGeom>
          <a:solidFill>
            <a:srgbClr val="235AF5"/>
          </a:solidFill>
          <a:ln w="12700">
            <a:solidFill>
              <a:srgbClr val="235AF5">
                <a:alpha val="0"/>
              </a:srgbClr>
            </a:solidFill>
            <a:prstDash val="solid"/>
          </a:ln>
        </p:spPr>
      </p:sp>
      <p:sp>
        <p:nvSpPr>
          <p:cNvPr id="18" name="Text 15"/>
          <p:cNvSpPr/>
          <p:nvPr/>
        </p:nvSpPr>
        <p:spPr>
          <a:xfrm>
            <a:off x="830275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03</a:t>
            </a:r>
            <a:endParaRPr lang="en-US" sz="1300" dirty="0"/>
          </a:p>
        </p:txBody>
      </p:sp>
      <p:sp>
        <p:nvSpPr>
          <p:cNvPr id="19" name="Text 16"/>
          <p:cNvSpPr/>
          <p:nvPr/>
        </p:nvSpPr>
        <p:spPr>
          <a:xfrm>
            <a:off x="830275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Request human review</a:t>
            </a:r>
            <a:endParaRPr lang="en-US" sz="2200" dirty="0"/>
          </a:p>
        </p:txBody>
      </p:sp>
      <p:sp>
        <p:nvSpPr>
          <p:cNvPr id="20" name="Text 17"/>
          <p:cNvSpPr/>
          <p:nvPr/>
        </p:nvSpPr>
        <p:spPr>
          <a:xfrm>
            <a:off x="830275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An authorized reviewer checks the claim and records attestation. Saving alone does not attest it.</a:t>
            </a:r>
            <a:endParaRPr lang="en-US" sz="1800" dirty="0"/>
          </a:p>
        </p:txBody>
      </p:sp>
      <p:sp>
        <p:nvSpPr>
          <p:cNvPr id="21" name="Shape 18"/>
          <p:cNvSpPr/>
          <p:nvPr/>
        </p:nvSpPr>
        <p:spPr>
          <a:xfrm>
            <a:off x="594360" y="5650992"/>
            <a:ext cx="11018520" cy="576072"/>
          </a:xfrm>
          <a:prstGeom prst="rect">
            <a:avLst/>
          </a:prstGeom>
          <a:solidFill>
            <a:srgbClr val="0D1933"/>
          </a:solidFill>
          <a:ln w="12700">
            <a:solidFill>
              <a:srgbClr val="0D1933">
                <a:alpha val="0"/>
              </a:srgbClr>
            </a:solidFill>
            <a:prstDash val="solid"/>
          </a:ln>
        </p:spPr>
      </p:sp>
      <p:sp>
        <p:nvSpPr>
          <p:cNvPr id="22" name="Text 19"/>
          <p:cNvSpPr/>
          <p:nvPr/>
        </p:nvSpPr>
        <p:spPr>
          <a:xfrm>
            <a:off x="777240" y="5779008"/>
            <a:ext cx="10607040" cy="374904"/>
          </a:xfrm>
          <a:prstGeom prst="rect">
            <a:avLst/>
          </a:prstGeom>
          <a:noFill/>
          <a:ln/>
        </p:spPr>
        <p:txBody>
          <a:bodyPr wrap="square" lIns="0" tIns="0" rIns="0" bIns="0" rtlCol="0" anchor="t"/>
          <a:lstStyle/>
          <a:p>
            <a:pPr indent="0" marL="0">
              <a:buNone/>
            </a:pPr>
            <a:r>
              <a:rPr lang="en-US" sz="1400" dirty="0">
                <a:solidFill>
                  <a:srgbClr val="FFFFFF"/>
                </a:solidFill>
                <a:latin typeface="Aptos" pitchFamily="34" charset="0"/>
                <a:ea typeface="Aptos" pitchFamily="34" charset="-122"/>
                <a:cs typeface="Aptos" pitchFamily="34" charset="-120"/>
              </a:rPr>
              <a:t>A CSLB number in the Passport does not establish that its classification covers a particular bid.</a:t>
            </a:r>
            <a:endParaRPr lang="en-US" sz="1400" dirty="0"/>
          </a:p>
        </p:txBody>
      </p:sp>
      <p:sp>
        <p:nvSpPr>
          <p:cNvPr id="23" name="Text 2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24" name="Text 2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06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04 / EVIDENCE FRESHNESS</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Use the Radar before the next deadline</a:t>
            </a:r>
            <a:endParaRPr lang="en-US" sz="3000" dirty="0"/>
          </a:p>
        </p:txBody>
      </p:sp>
      <p:sp>
        <p:nvSpPr>
          <p:cNvPr id="6" name="Shape 3"/>
          <p:cNvSpPr/>
          <p:nvPr/>
        </p:nvSpPr>
        <p:spPr>
          <a:xfrm>
            <a:off x="594360" y="1856232"/>
            <a:ext cx="3520440" cy="3557016"/>
          </a:xfrm>
          <a:prstGeom prst="rect">
            <a:avLst/>
          </a:prstGeom>
          <a:solidFill>
            <a:srgbClr val="FFFFFF"/>
          </a:solidFill>
          <a:ln w="12700">
            <a:solidFill>
              <a:srgbClr val="FFFFFF">
                <a:alpha val="0"/>
              </a:srgbClr>
            </a:solidFill>
            <a:prstDash val="solid"/>
          </a:ln>
        </p:spPr>
      </p:sp>
      <p:sp>
        <p:nvSpPr>
          <p:cNvPr id="7" name="Shape 4"/>
          <p:cNvSpPr/>
          <p:nvPr/>
        </p:nvSpPr>
        <p:spPr>
          <a:xfrm>
            <a:off x="594360" y="1856232"/>
            <a:ext cx="54864" cy="3557016"/>
          </a:xfrm>
          <a:prstGeom prst="rect">
            <a:avLst/>
          </a:prstGeom>
          <a:solidFill>
            <a:srgbClr val="235AF5"/>
          </a:solidFill>
          <a:ln w="12700">
            <a:solidFill>
              <a:srgbClr val="235AF5">
                <a:alpha val="0"/>
              </a:srgbClr>
            </a:solidFill>
            <a:prstDash val="solid"/>
          </a:ln>
        </p:spPr>
      </p:sp>
      <p:sp>
        <p:nvSpPr>
          <p:cNvPr id="8" name="Text 5"/>
          <p:cNvSpPr/>
          <p:nvPr/>
        </p:nvSpPr>
        <p:spPr>
          <a:xfrm>
            <a:off x="80467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01</a:t>
            </a:r>
            <a:endParaRPr lang="en-US" sz="1300" dirty="0"/>
          </a:p>
        </p:txBody>
      </p:sp>
      <p:sp>
        <p:nvSpPr>
          <p:cNvPr id="9" name="Text 6"/>
          <p:cNvSpPr/>
          <p:nvPr/>
        </p:nvSpPr>
        <p:spPr>
          <a:xfrm>
            <a:off x="80467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Choose a window</a:t>
            </a:r>
            <a:endParaRPr lang="en-US" sz="2200" dirty="0"/>
          </a:p>
        </p:txBody>
      </p:sp>
      <p:sp>
        <p:nvSpPr>
          <p:cNvPr id="10" name="Text 7"/>
          <p:cNvSpPr/>
          <p:nvPr/>
        </p:nvSpPr>
        <p:spPr>
          <a:xfrm>
            <a:off x="80467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In Company or Today, filter the Radar: expired, 0–30, 31–60, 61–90 days, stale, or missing dates.</a:t>
            </a:r>
            <a:endParaRPr lang="en-US" sz="1800" dirty="0"/>
          </a:p>
        </p:txBody>
      </p:sp>
      <p:sp>
        <p:nvSpPr>
          <p:cNvPr id="11" name="Shape 8"/>
          <p:cNvSpPr/>
          <p:nvPr/>
        </p:nvSpPr>
        <p:spPr>
          <a:xfrm>
            <a:off x="4343400" y="1856232"/>
            <a:ext cx="3520440" cy="3557016"/>
          </a:xfrm>
          <a:prstGeom prst="rect">
            <a:avLst/>
          </a:prstGeom>
          <a:solidFill>
            <a:srgbClr val="FFFFFF"/>
          </a:solidFill>
          <a:ln w="12700">
            <a:solidFill>
              <a:srgbClr val="FFFFFF">
                <a:alpha val="0"/>
              </a:srgbClr>
            </a:solidFill>
            <a:prstDash val="solid"/>
          </a:ln>
        </p:spPr>
      </p:sp>
      <p:sp>
        <p:nvSpPr>
          <p:cNvPr id="12" name="Shape 9"/>
          <p:cNvSpPr/>
          <p:nvPr/>
        </p:nvSpPr>
        <p:spPr>
          <a:xfrm>
            <a:off x="4343400" y="1856232"/>
            <a:ext cx="54864" cy="3557016"/>
          </a:xfrm>
          <a:prstGeom prst="rect">
            <a:avLst/>
          </a:prstGeom>
          <a:solidFill>
            <a:srgbClr val="F2B337"/>
          </a:solidFill>
          <a:ln w="12700">
            <a:solidFill>
              <a:srgbClr val="F2B337">
                <a:alpha val="0"/>
              </a:srgbClr>
            </a:solidFill>
            <a:prstDash val="solid"/>
          </a:ln>
        </p:spPr>
      </p:sp>
      <p:sp>
        <p:nvSpPr>
          <p:cNvPr id="13" name="Text 10"/>
          <p:cNvSpPr/>
          <p:nvPr/>
        </p:nvSpPr>
        <p:spPr>
          <a:xfrm>
            <a:off x="455371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02</a:t>
            </a:r>
            <a:endParaRPr lang="en-US" sz="1300" dirty="0"/>
          </a:p>
        </p:txBody>
      </p:sp>
      <p:sp>
        <p:nvSpPr>
          <p:cNvPr id="14" name="Text 11"/>
          <p:cNvSpPr/>
          <p:nvPr/>
        </p:nvSpPr>
        <p:spPr>
          <a:xfrm>
            <a:off x="455371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Open the record</a:t>
            </a:r>
            <a:endParaRPr lang="en-US" sz="2200" dirty="0"/>
          </a:p>
        </p:txBody>
      </p:sp>
      <p:sp>
        <p:nvSpPr>
          <p:cNvPr id="15" name="Text 12"/>
          <p:cNvSpPr/>
          <p:nvPr/>
        </p:nvSpPr>
        <p:spPr>
          <a:xfrm>
            <a:off x="455371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Check the source, expiration and owner. Correct the evidence and obtain the required human review.</a:t>
            </a:r>
            <a:endParaRPr lang="en-US" sz="1800" dirty="0"/>
          </a:p>
        </p:txBody>
      </p:sp>
      <p:sp>
        <p:nvSpPr>
          <p:cNvPr id="16" name="Shape 13"/>
          <p:cNvSpPr/>
          <p:nvPr/>
        </p:nvSpPr>
        <p:spPr>
          <a:xfrm>
            <a:off x="8092440" y="1856232"/>
            <a:ext cx="3520440" cy="3557016"/>
          </a:xfrm>
          <a:prstGeom prst="rect">
            <a:avLst/>
          </a:prstGeom>
          <a:solidFill>
            <a:srgbClr val="FFFFFF"/>
          </a:solidFill>
          <a:ln w="12700">
            <a:solidFill>
              <a:srgbClr val="FFFFFF">
                <a:alpha val="0"/>
              </a:srgbClr>
            </a:solidFill>
            <a:prstDash val="solid"/>
          </a:ln>
        </p:spPr>
      </p:sp>
      <p:sp>
        <p:nvSpPr>
          <p:cNvPr id="17" name="Shape 14"/>
          <p:cNvSpPr/>
          <p:nvPr/>
        </p:nvSpPr>
        <p:spPr>
          <a:xfrm>
            <a:off x="8092440" y="1856232"/>
            <a:ext cx="54864" cy="3557016"/>
          </a:xfrm>
          <a:prstGeom prst="rect">
            <a:avLst/>
          </a:prstGeom>
          <a:solidFill>
            <a:srgbClr val="235AF5"/>
          </a:solidFill>
          <a:ln w="12700">
            <a:solidFill>
              <a:srgbClr val="235AF5">
                <a:alpha val="0"/>
              </a:srgbClr>
            </a:solidFill>
            <a:prstDash val="solid"/>
          </a:ln>
        </p:spPr>
      </p:sp>
      <p:sp>
        <p:nvSpPr>
          <p:cNvPr id="18" name="Text 15"/>
          <p:cNvSpPr/>
          <p:nvPr/>
        </p:nvSpPr>
        <p:spPr>
          <a:xfrm>
            <a:off x="830275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03</a:t>
            </a:r>
            <a:endParaRPr lang="en-US" sz="1300" dirty="0"/>
          </a:p>
        </p:txBody>
      </p:sp>
      <p:sp>
        <p:nvSpPr>
          <p:cNvPr id="19" name="Text 16"/>
          <p:cNvSpPr/>
          <p:nvPr/>
        </p:nvSpPr>
        <p:spPr>
          <a:xfrm>
            <a:off x="830275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Revisit affected pursuits</a:t>
            </a:r>
            <a:endParaRPr lang="en-US" sz="2200" dirty="0"/>
          </a:p>
        </p:txBody>
      </p:sp>
      <p:sp>
        <p:nvSpPr>
          <p:cNvPr id="20" name="Text 17"/>
          <p:cNvSpPr/>
          <p:nvPr/>
        </p:nvSpPr>
        <p:spPr>
          <a:xfrm>
            <a:off x="830275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Scheduled checks and pursuit access can reopen linked requirements. Review reminders and reaffirm stale decisions.</a:t>
            </a:r>
            <a:endParaRPr lang="en-US" sz="1800" dirty="0"/>
          </a:p>
        </p:txBody>
      </p:sp>
      <p:sp>
        <p:nvSpPr>
          <p:cNvPr id="21" name="Shape 18"/>
          <p:cNvSpPr/>
          <p:nvPr/>
        </p:nvSpPr>
        <p:spPr>
          <a:xfrm>
            <a:off x="594360" y="5650992"/>
            <a:ext cx="11018520" cy="576072"/>
          </a:xfrm>
          <a:prstGeom prst="rect">
            <a:avLst/>
          </a:prstGeom>
          <a:solidFill>
            <a:srgbClr val="0D1933"/>
          </a:solidFill>
          <a:ln w="12700">
            <a:solidFill>
              <a:srgbClr val="0D1933">
                <a:alpha val="0"/>
              </a:srgbClr>
            </a:solidFill>
            <a:prstDash val="solid"/>
          </a:ln>
        </p:spPr>
      </p:sp>
      <p:sp>
        <p:nvSpPr>
          <p:cNvPr id="22" name="Text 19"/>
          <p:cNvSpPr/>
          <p:nvPr/>
        </p:nvSpPr>
        <p:spPr>
          <a:xfrm>
            <a:off x="777240" y="5779008"/>
            <a:ext cx="10607040" cy="374904"/>
          </a:xfrm>
          <a:prstGeom prst="rect">
            <a:avLst/>
          </a:prstGeom>
          <a:noFill/>
          <a:ln/>
        </p:spPr>
        <p:txBody>
          <a:bodyPr wrap="square" lIns="0" tIns="0" rIns="0" bIns="0" rtlCol="0" anchor="t"/>
          <a:lstStyle/>
          <a:p>
            <a:pPr indent="0" marL="0">
              <a:buNone/>
            </a:pPr>
            <a:r>
              <a:rPr lang="en-US" sz="1400" dirty="0">
                <a:solidFill>
                  <a:srgbClr val="FFFFFF"/>
                </a:solidFill>
                <a:latin typeface="Aptos" pitchFamily="34" charset="0"/>
                <a:ea typeface="Aptos" pitchFamily="34" charset="-122"/>
                <a:cs typeface="Aptos" pitchFamily="34" charset="-120"/>
              </a:rPr>
              <a:t>A reminder is not renewed coverage. Update and review the underlying evidence.</a:t>
            </a:r>
            <a:endParaRPr lang="en-US" sz="1400" dirty="0"/>
          </a:p>
        </p:txBody>
      </p:sp>
      <p:sp>
        <p:nvSpPr>
          <p:cNvPr id="23" name="Text 2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24" name="Text 2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07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05 / OPPORTUNITY INTAKE</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Capture the notice, not just its title</a:t>
            </a:r>
            <a:endParaRPr lang="en-US" sz="3000" dirty="0"/>
          </a:p>
        </p:txBody>
      </p:sp>
      <p:pic>
        <p:nvPicPr>
          <p:cNvPr id="6" name="Image 0" descr="C:\Users\jir92\BidXchange\docs\presentations\how-to-assets\opportunities.png">    </p:cNvPr>
          <p:cNvPicPr>
            <a:picLocks noChangeAspect="1"/>
          </p:cNvPicPr>
          <p:nvPr/>
        </p:nvPicPr>
        <p:blipFill>
          <a:blip r:embed="rId1"/>
          <a:stretch>
            <a:fillRect/>
          </a:stretch>
        </p:blipFill>
        <p:spPr>
          <a:xfrm>
            <a:off x="502920" y="1645920"/>
            <a:ext cx="7525512" cy="4764024"/>
          </a:xfrm>
          <a:prstGeom prst="rect">
            <a:avLst/>
          </a:prstGeom>
        </p:spPr>
      </p:pic>
      <p:sp>
        <p:nvSpPr>
          <p:cNvPr id="7" name="Text 3"/>
          <p:cNvSpPr/>
          <p:nvPr/>
        </p:nvSpPr>
        <p:spPr>
          <a:xfrm>
            <a:off x="8257032" y="1755648"/>
            <a:ext cx="3310128" cy="384048"/>
          </a:xfrm>
          <a:prstGeom prst="rect">
            <a:avLst/>
          </a:prstGeom>
          <a:noFill/>
          <a:ln/>
        </p:spPr>
        <p:txBody>
          <a:bodyPr wrap="square" lIns="0" tIns="0" rIns="0" bIns="0" rtlCol="0" anchor="t"/>
          <a:lstStyle/>
          <a:p>
            <a:pPr indent="0" marL="0">
              <a:buNone/>
            </a:pPr>
            <a:r>
              <a:rPr lang="en-US" sz="1900" b="1" dirty="0">
                <a:solidFill>
                  <a:srgbClr val="235AF5"/>
                </a:solidFill>
                <a:latin typeface="Aptos" pitchFamily="34" charset="0"/>
                <a:ea typeface="Aptos" pitchFamily="34" charset="-122"/>
                <a:cs typeface="Aptos" pitchFamily="34" charset="-120"/>
              </a:rPr>
              <a:t>Record an opportunity</a:t>
            </a:r>
            <a:endParaRPr lang="en-US" sz="1900" dirty="0"/>
          </a:p>
        </p:txBody>
      </p:sp>
      <p:sp>
        <p:nvSpPr>
          <p:cNvPr id="8" name="Text 4"/>
          <p:cNvSpPr/>
          <p:nvPr/>
        </p:nvSpPr>
        <p:spPr>
          <a:xfrm>
            <a:off x="8257032" y="2185416"/>
            <a:ext cx="3310128" cy="777240"/>
          </a:xfrm>
          <a:prstGeom prst="rect">
            <a:avLst/>
          </a:prstGeom>
          <a:noFill/>
          <a:ln/>
        </p:spPr>
        <p:txBody>
          <a:bodyPr wrap="square" lIns="0" tIns="0" rIns="0" bIns="0" rtlCol="0" anchor="t"/>
          <a:lstStyle/>
          <a:p>
            <a:pPr indent="0" marL="0">
              <a:buNone/>
            </a:pPr>
            <a:r>
              <a:rPr lang="en-US" sz="1600" dirty="0">
                <a:solidFill>
                  <a:srgbClr val="172641"/>
                </a:solidFill>
                <a:latin typeface="Aptos" pitchFamily="34" charset="0"/>
                <a:ea typeface="Aptos" pitchFamily="34" charset="-122"/>
                <a:cs typeface="Aptos" pitchFamily="34" charset="-120"/>
              </a:rPr>
              <a:t>Enter buyer, title, solicitation number, source and notice excerpt.</a:t>
            </a:r>
            <a:endParaRPr lang="en-US" sz="1600" dirty="0"/>
          </a:p>
        </p:txBody>
      </p:sp>
      <p:sp>
        <p:nvSpPr>
          <p:cNvPr id="9" name="Text 5"/>
          <p:cNvSpPr/>
          <p:nvPr/>
        </p:nvSpPr>
        <p:spPr>
          <a:xfrm>
            <a:off x="8257032" y="3008376"/>
            <a:ext cx="3310128" cy="384048"/>
          </a:xfrm>
          <a:prstGeom prst="rect">
            <a:avLst/>
          </a:prstGeom>
          <a:noFill/>
          <a:ln/>
        </p:spPr>
        <p:txBody>
          <a:bodyPr wrap="square" lIns="0" tIns="0" rIns="0" bIns="0" rtlCol="0" anchor="t"/>
          <a:lstStyle/>
          <a:p>
            <a:pPr indent="0" marL="0">
              <a:buNone/>
            </a:pPr>
            <a:r>
              <a:rPr lang="en-US" sz="1900" b="1" dirty="0">
                <a:solidFill>
                  <a:srgbClr val="235AF5"/>
                </a:solidFill>
                <a:latin typeface="Aptos" pitchFamily="34" charset="0"/>
                <a:ea typeface="Aptos" pitchFamily="34" charset="-122"/>
                <a:cs typeface="Aptos" pitchFamily="34" charset="-120"/>
              </a:rPr>
              <a:t>Confirm the deadline</a:t>
            </a:r>
            <a:endParaRPr lang="en-US" sz="1900" dirty="0"/>
          </a:p>
        </p:txBody>
      </p:sp>
      <p:sp>
        <p:nvSpPr>
          <p:cNvPr id="10" name="Text 6"/>
          <p:cNvSpPr/>
          <p:nvPr/>
        </p:nvSpPr>
        <p:spPr>
          <a:xfrm>
            <a:off x="8257032" y="3438144"/>
            <a:ext cx="3310128" cy="777240"/>
          </a:xfrm>
          <a:prstGeom prst="rect">
            <a:avLst/>
          </a:prstGeom>
          <a:noFill/>
          <a:ln/>
        </p:spPr>
        <p:txBody>
          <a:bodyPr wrap="square" lIns="0" tIns="0" rIns="0" bIns="0" rtlCol="0" anchor="t"/>
          <a:lstStyle/>
          <a:p>
            <a:pPr indent="0" marL="0">
              <a:buNone/>
            </a:pPr>
            <a:r>
              <a:rPr lang="en-US" sz="1600" dirty="0">
                <a:solidFill>
                  <a:srgbClr val="172641"/>
                </a:solidFill>
                <a:latin typeface="Aptos" pitchFamily="34" charset="0"/>
                <a:ea typeface="Aptos" pitchFamily="34" charset="-122"/>
                <a:cs typeface="Aptos" pitchFamily="34" charset="-120"/>
              </a:rPr>
              <a:t>Record the exact date, time and time zone from official instructions.</a:t>
            </a:r>
            <a:endParaRPr lang="en-US" sz="1600" dirty="0"/>
          </a:p>
        </p:txBody>
      </p:sp>
      <p:sp>
        <p:nvSpPr>
          <p:cNvPr id="11" name="Text 7"/>
          <p:cNvSpPr/>
          <p:nvPr/>
        </p:nvSpPr>
        <p:spPr>
          <a:xfrm>
            <a:off x="8257032" y="4261104"/>
            <a:ext cx="3310128" cy="384048"/>
          </a:xfrm>
          <a:prstGeom prst="rect">
            <a:avLst/>
          </a:prstGeom>
          <a:noFill/>
          <a:ln/>
        </p:spPr>
        <p:txBody>
          <a:bodyPr wrap="square" lIns="0" tIns="0" rIns="0" bIns="0" rtlCol="0" anchor="t"/>
          <a:lstStyle/>
          <a:p>
            <a:pPr indent="0" marL="0">
              <a:buNone/>
            </a:pPr>
            <a:r>
              <a:rPr lang="en-US" sz="1900" b="1" dirty="0">
                <a:solidFill>
                  <a:srgbClr val="235AF5"/>
                </a:solidFill>
                <a:latin typeface="Aptos" pitchFamily="34" charset="0"/>
                <a:ea typeface="Aptos" pitchFamily="34" charset="-122"/>
                <a:cs typeface="Aptos" pitchFamily="34" charset="-120"/>
              </a:rPr>
              <a:t>Keep the source current</a:t>
            </a:r>
            <a:endParaRPr lang="en-US" sz="1900" dirty="0"/>
          </a:p>
        </p:txBody>
      </p:sp>
      <p:sp>
        <p:nvSpPr>
          <p:cNvPr id="12" name="Text 8"/>
          <p:cNvSpPr/>
          <p:nvPr/>
        </p:nvSpPr>
        <p:spPr>
          <a:xfrm>
            <a:off x="8257032" y="4690872"/>
            <a:ext cx="3310128" cy="777240"/>
          </a:xfrm>
          <a:prstGeom prst="rect">
            <a:avLst/>
          </a:prstGeom>
          <a:noFill/>
          <a:ln/>
        </p:spPr>
        <p:txBody>
          <a:bodyPr wrap="square" lIns="0" tIns="0" rIns="0" bIns="0" rtlCol="0" anchor="t"/>
          <a:lstStyle/>
          <a:p>
            <a:pPr indent="0" marL="0">
              <a:buNone/>
            </a:pPr>
            <a:r>
              <a:rPr lang="en-US" sz="1600" dirty="0">
                <a:solidFill>
                  <a:srgbClr val="172641"/>
                </a:solidFill>
                <a:latin typeface="Aptos" pitchFamily="34" charset="0"/>
                <a:ea typeface="Aptos" pitchFamily="34" charset="-122"/>
                <a:cs typeface="Aptos" pitchFamily="34" charset="-120"/>
              </a:rPr>
              <a:t>Preserve the portal URL and source-review note. Check for changes at the official site.</a:t>
            </a:r>
            <a:endParaRPr lang="en-US" sz="1600" dirty="0"/>
          </a:p>
        </p:txBody>
      </p:sp>
      <p:sp>
        <p:nvSpPr>
          <p:cNvPr id="13" name="Text 9"/>
          <p:cNvSpPr/>
          <p:nvPr/>
        </p:nvSpPr>
        <p:spPr>
          <a:xfrm>
            <a:off x="8257032" y="5650992"/>
            <a:ext cx="3291840" cy="621792"/>
          </a:xfrm>
          <a:prstGeom prst="rect">
            <a:avLst/>
          </a:prstGeom>
          <a:noFill/>
          <a:ln/>
        </p:spPr>
        <p:txBody>
          <a:bodyPr wrap="square" lIns="0" tIns="0" rIns="0" bIns="0" rtlCol="0" anchor="t"/>
          <a:lstStyle/>
          <a:p>
            <a:pPr indent="0" marL="0">
              <a:buNone/>
            </a:pPr>
            <a:r>
              <a:rPr lang="en-US" sz="1100" dirty="0">
                <a:solidFill>
                  <a:srgbClr val="506178"/>
                </a:solidFill>
                <a:latin typeface="Aptos" pitchFamily="34" charset="0"/>
                <a:ea typeface="Aptos" pitchFamily="34" charset="-122"/>
                <a:cs typeface="Aptos" pitchFamily="34" charset="-120"/>
              </a:rPr>
              <a:t>Live public-demo screenshot · fictional opportunities; not a live market feed.</a:t>
            </a:r>
            <a:endParaRPr lang="en-US" sz="1100" dirty="0"/>
          </a:p>
        </p:txBody>
      </p:sp>
      <p:sp>
        <p:nvSpPr>
          <p:cNvPr id="14" name="Text 1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15" name="Text 1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08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05 / EXTERNAL SOURCES</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Use official portals deliberately</a:t>
            </a:r>
            <a:endParaRPr lang="en-US" sz="3000" dirty="0"/>
          </a:p>
        </p:txBody>
      </p:sp>
      <p:sp>
        <p:nvSpPr>
          <p:cNvPr id="6" name="Shape 3"/>
          <p:cNvSpPr/>
          <p:nvPr/>
        </p:nvSpPr>
        <p:spPr>
          <a:xfrm>
            <a:off x="594360" y="1856232"/>
            <a:ext cx="3520440" cy="3557016"/>
          </a:xfrm>
          <a:prstGeom prst="rect">
            <a:avLst/>
          </a:prstGeom>
          <a:solidFill>
            <a:srgbClr val="FFFFFF"/>
          </a:solidFill>
          <a:ln w="12700">
            <a:solidFill>
              <a:srgbClr val="FFFFFF">
                <a:alpha val="0"/>
              </a:srgbClr>
            </a:solidFill>
            <a:prstDash val="solid"/>
          </a:ln>
        </p:spPr>
      </p:sp>
      <p:sp>
        <p:nvSpPr>
          <p:cNvPr id="7" name="Shape 4"/>
          <p:cNvSpPr/>
          <p:nvPr/>
        </p:nvSpPr>
        <p:spPr>
          <a:xfrm>
            <a:off x="594360" y="1856232"/>
            <a:ext cx="54864" cy="3557016"/>
          </a:xfrm>
          <a:prstGeom prst="rect">
            <a:avLst/>
          </a:prstGeom>
          <a:solidFill>
            <a:srgbClr val="235AF5"/>
          </a:solidFill>
          <a:ln w="12700">
            <a:solidFill>
              <a:srgbClr val="235AF5">
                <a:alpha val="0"/>
              </a:srgbClr>
            </a:solidFill>
            <a:prstDash val="solid"/>
          </a:ln>
        </p:spPr>
      </p:sp>
      <p:sp>
        <p:nvSpPr>
          <p:cNvPr id="8" name="Text 5"/>
          <p:cNvSpPr/>
          <p:nvPr/>
        </p:nvSpPr>
        <p:spPr>
          <a:xfrm>
            <a:off x="80467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01</a:t>
            </a:r>
            <a:endParaRPr lang="en-US" sz="1300" dirty="0"/>
          </a:p>
        </p:txBody>
      </p:sp>
      <p:sp>
        <p:nvSpPr>
          <p:cNvPr id="9" name="Text 6"/>
          <p:cNvSpPr/>
          <p:nvPr/>
        </p:nvSpPr>
        <p:spPr>
          <a:xfrm>
            <a:off x="80467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Open a portal shortcut</a:t>
            </a:r>
            <a:endParaRPr lang="en-US" sz="2200" dirty="0"/>
          </a:p>
        </p:txBody>
      </p:sp>
      <p:sp>
        <p:nvSpPr>
          <p:cNvPr id="10" name="Text 7"/>
          <p:cNvSpPr/>
          <p:nvPr/>
        </p:nvSpPr>
        <p:spPr>
          <a:xfrm>
            <a:off x="80467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Find official links for SAM.gov, Cal eProcure, SCE PEPMA, LADWP, LAUSD and other supported sources.</a:t>
            </a:r>
            <a:endParaRPr lang="en-US" sz="1800" dirty="0"/>
          </a:p>
        </p:txBody>
      </p:sp>
      <p:sp>
        <p:nvSpPr>
          <p:cNvPr id="11" name="Shape 8"/>
          <p:cNvSpPr/>
          <p:nvPr/>
        </p:nvSpPr>
        <p:spPr>
          <a:xfrm>
            <a:off x="4343400" y="1856232"/>
            <a:ext cx="3520440" cy="3557016"/>
          </a:xfrm>
          <a:prstGeom prst="rect">
            <a:avLst/>
          </a:prstGeom>
          <a:solidFill>
            <a:srgbClr val="FFFFFF"/>
          </a:solidFill>
          <a:ln w="12700">
            <a:solidFill>
              <a:srgbClr val="FFFFFF">
                <a:alpha val="0"/>
              </a:srgbClr>
            </a:solidFill>
            <a:prstDash val="solid"/>
          </a:ln>
        </p:spPr>
      </p:sp>
      <p:sp>
        <p:nvSpPr>
          <p:cNvPr id="12" name="Shape 9"/>
          <p:cNvSpPr/>
          <p:nvPr/>
        </p:nvSpPr>
        <p:spPr>
          <a:xfrm>
            <a:off x="4343400" y="1856232"/>
            <a:ext cx="54864" cy="3557016"/>
          </a:xfrm>
          <a:prstGeom prst="rect">
            <a:avLst/>
          </a:prstGeom>
          <a:solidFill>
            <a:srgbClr val="F2B337"/>
          </a:solidFill>
          <a:ln w="12700">
            <a:solidFill>
              <a:srgbClr val="F2B337">
                <a:alpha val="0"/>
              </a:srgbClr>
            </a:solidFill>
            <a:prstDash val="solid"/>
          </a:ln>
        </p:spPr>
      </p:sp>
      <p:sp>
        <p:nvSpPr>
          <p:cNvPr id="13" name="Text 10"/>
          <p:cNvSpPr/>
          <p:nvPr/>
        </p:nvSpPr>
        <p:spPr>
          <a:xfrm>
            <a:off x="455371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02</a:t>
            </a:r>
            <a:endParaRPr lang="en-US" sz="1300" dirty="0"/>
          </a:p>
        </p:txBody>
      </p:sp>
      <p:sp>
        <p:nvSpPr>
          <p:cNvPr id="14" name="Text 11"/>
          <p:cNvSpPr/>
          <p:nvPr/>
        </p:nvSpPr>
        <p:spPr>
          <a:xfrm>
            <a:off x="455371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Research at the source</a:t>
            </a:r>
            <a:endParaRPr lang="en-US" sz="2200" dirty="0"/>
          </a:p>
        </p:txBody>
      </p:sp>
      <p:sp>
        <p:nvSpPr>
          <p:cNvPr id="15" name="Text 12"/>
          <p:cNvSpPr/>
          <p:nvPr/>
        </p:nvSpPr>
        <p:spPr>
          <a:xfrm>
            <a:off x="455371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Sign in directly when required. Read the notice, attachments, meeting instructions and addenda.</a:t>
            </a:r>
            <a:endParaRPr lang="en-US" sz="1800" dirty="0"/>
          </a:p>
        </p:txBody>
      </p:sp>
      <p:sp>
        <p:nvSpPr>
          <p:cNvPr id="16" name="Shape 13"/>
          <p:cNvSpPr/>
          <p:nvPr/>
        </p:nvSpPr>
        <p:spPr>
          <a:xfrm>
            <a:off x="8092440" y="1856232"/>
            <a:ext cx="3520440" cy="3557016"/>
          </a:xfrm>
          <a:prstGeom prst="rect">
            <a:avLst/>
          </a:prstGeom>
          <a:solidFill>
            <a:srgbClr val="FFFFFF"/>
          </a:solidFill>
          <a:ln w="12700">
            <a:solidFill>
              <a:srgbClr val="FFFFFF">
                <a:alpha val="0"/>
              </a:srgbClr>
            </a:solidFill>
            <a:prstDash val="solid"/>
          </a:ln>
        </p:spPr>
      </p:sp>
      <p:sp>
        <p:nvSpPr>
          <p:cNvPr id="17" name="Shape 14"/>
          <p:cNvSpPr/>
          <p:nvPr/>
        </p:nvSpPr>
        <p:spPr>
          <a:xfrm>
            <a:off x="8092440" y="1856232"/>
            <a:ext cx="54864" cy="3557016"/>
          </a:xfrm>
          <a:prstGeom prst="rect">
            <a:avLst/>
          </a:prstGeom>
          <a:solidFill>
            <a:srgbClr val="235AF5"/>
          </a:solidFill>
          <a:ln w="12700">
            <a:solidFill>
              <a:srgbClr val="235AF5">
                <a:alpha val="0"/>
              </a:srgbClr>
            </a:solidFill>
            <a:prstDash val="solid"/>
          </a:ln>
        </p:spPr>
      </p:sp>
      <p:sp>
        <p:nvSpPr>
          <p:cNvPr id="18" name="Text 15"/>
          <p:cNvSpPr/>
          <p:nvPr/>
        </p:nvSpPr>
        <p:spPr>
          <a:xfrm>
            <a:off x="830275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03</a:t>
            </a:r>
            <a:endParaRPr lang="en-US" sz="1300" dirty="0"/>
          </a:p>
        </p:txBody>
      </p:sp>
      <p:sp>
        <p:nvSpPr>
          <p:cNvPr id="19" name="Text 16"/>
          <p:cNvSpPr/>
          <p:nvPr/>
        </p:nvSpPr>
        <p:spPr>
          <a:xfrm>
            <a:off x="830275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Bring the evidence back</a:t>
            </a:r>
            <a:endParaRPr lang="en-US" sz="2200" dirty="0"/>
          </a:p>
        </p:txBody>
      </p:sp>
      <p:sp>
        <p:nvSpPr>
          <p:cNvPr id="20" name="Text 17"/>
          <p:cNvSpPr/>
          <p:nvPr/>
        </p:nvSpPr>
        <p:spPr>
          <a:xfrm>
            <a:off x="830275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Save the official URL and source note in BidXchange. Paste the relevant public notice excerpt.</a:t>
            </a:r>
            <a:endParaRPr lang="en-US" sz="1800" dirty="0"/>
          </a:p>
        </p:txBody>
      </p:sp>
      <p:sp>
        <p:nvSpPr>
          <p:cNvPr id="21" name="Shape 18"/>
          <p:cNvSpPr/>
          <p:nvPr/>
        </p:nvSpPr>
        <p:spPr>
          <a:xfrm>
            <a:off x="594360" y="5650992"/>
            <a:ext cx="11018520" cy="576072"/>
          </a:xfrm>
          <a:prstGeom prst="rect">
            <a:avLst/>
          </a:prstGeom>
          <a:solidFill>
            <a:srgbClr val="0D1933"/>
          </a:solidFill>
          <a:ln w="12700">
            <a:solidFill>
              <a:srgbClr val="0D1933">
                <a:alpha val="0"/>
              </a:srgbClr>
            </a:solidFill>
            <a:prstDash val="solid"/>
          </a:ln>
        </p:spPr>
      </p:sp>
      <p:sp>
        <p:nvSpPr>
          <p:cNvPr id="22" name="Text 19"/>
          <p:cNvSpPr/>
          <p:nvPr/>
        </p:nvSpPr>
        <p:spPr>
          <a:xfrm>
            <a:off x="777240" y="5779008"/>
            <a:ext cx="10607040" cy="374904"/>
          </a:xfrm>
          <a:prstGeom prst="rect">
            <a:avLst/>
          </a:prstGeom>
          <a:noFill/>
          <a:ln/>
        </p:spPr>
        <p:txBody>
          <a:bodyPr wrap="square" lIns="0" tIns="0" rIns="0" bIns="0" rtlCol="0" anchor="t"/>
          <a:lstStyle/>
          <a:p>
            <a:pPr indent="0" marL="0">
              <a:buNone/>
            </a:pPr>
            <a:r>
              <a:rPr lang="en-US" sz="1400" dirty="0">
                <a:solidFill>
                  <a:srgbClr val="FFFFFF"/>
                </a:solidFill>
                <a:latin typeface="Aptos" pitchFamily="34" charset="0"/>
                <a:ea typeface="Aptos" pitchFamily="34" charset="-122"/>
                <a:cs typeface="Aptos" pitchFamily="34" charset="-120"/>
              </a:rPr>
              <a:t>“External site” means a portal shortcut—not automatic synchronization or submission.</a:t>
            </a:r>
            <a:endParaRPr lang="en-US" sz="1400" dirty="0"/>
          </a:p>
        </p:txBody>
      </p:sp>
      <p:sp>
        <p:nvSpPr>
          <p:cNvPr id="23" name="Text 2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24" name="Text 2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09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06 / PURSUIT WORKSPACE</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Turn an opportunity into a pursuit</a:t>
            </a:r>
            <a:endParaRPr lang="en-US" sz="3000" dirty="0"/>
          </a:p>
        </p:txBody>
      </p:sp>
      <p:sp>
        <p:nvSpPr>
          <p:cNvPr id="6" name="Shape 3"/>
          <p:cNvSpPr/>
          <p:nvPr/>
        </p:nvSpPr>
        <p:spPr>
          <a:xfrm>
            <a:off x="594360" y="1856232"/>
            <a:ext cx="3520440" cy="3557016"/>
          </a:xfrm>
          <a:prstGeom prst="rect">
            <a:avLst/>
          </a:prstGeom>
          <a:solidFill>
            <a:srgbClr val="FFFFFF"/>
          </a:solidFill>
          <a:ln w="12700">
            <a:solidFill>
              <a:srgbClr val="FFFFFF">
                <a:alpha val="0"/>
              </a:srgbClr>
            </a:solidFill>
            <a:prstDash val="solid"/>
          </a:ln>
        </p:spPr>
      </p:sp>
      <p:sp>
        <p:nvSpPr>
          <p:cNvPr id="7" name="Shape 4"/>
          <p:cNvSpPr/>
          <p:nvPr/>
        </p:nvSpPr>
        <p:spPr>
          <a:xfrm>
            <a:off x="594360" y="1856232"/>
            <a:ext cx="54864" cy="3557016"/>
          </a:xfrm>
          <a:prstGeom prst="rect">
            <a:avLst/>
          </a:prstGeom>
          <a:solidFill>
            <a:srgbClr val="235AF5"/>
          </a:solidFill>
          <a:ln w="12700">
            <a:solidFill>
              <a:srgbClr val="235AF5">
                <a:alpha val="0"/>
              </a:srgbClr>
            </a:solidFill>
            <a:prstDash val="solid"/>
          </a:ln>
        </p:spPr>
      </p:sp>
      <p:sp>
        <p:nvSpPr>
          <p:cNvPr id="8" name="Text 5"/>
          <p:cNvSpPr/>
          <p:nvPr/>
        </p:nvSpPr>
        <p:spPr>
          <a:xfrm>
            <a:off x="80467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01</a:t>
            </a:r>
            <a:endParaRPr lang="en-US" sz="1300" dirty="0"/>
          </a:p>
        </p:txBody>
      </p:sp>
      <p:sp>
        <p:nvSpPr>
          <p:cNvPr id="9" name="Text 6"/>
          <p:cNvSpPr/>
          <p:nvPr/>
        </p:nvSpPr>
        <p:spPr>
          <a:xfrm>
            <a:off x="80467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Open the opportunity</a:t>
            </a:r>
            <a:endParaRPr lang="en-US" sz="2200" dirty="0"/>
          </a:p>
        </p:txBody>
      </p:sp>
      <p:sp>
        <p:nvSpPr>
          <p:cNvPr id="10" name="Text 7"/>
          <p:cNvSpPr/>
          <p:nvPr/>
        </p:nvSpPr>
        <p:spPr>
          <a:xfrm>
            <a:off x="80467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Confirm the source notice and the opportunity you intend to evaluate.</a:t>
            </a:r>
            <a:endParaRPr lang="en-US" sz="1800" dirty="0"/>
          </a:p>
        </p:txBody>
      </p:sp>
      <p:sp>
        <p:nvSpPr>
          <p:cNvPr id="11" name="Shape 8"/>
          <p:cNvSpPr/>
          <p:nvPr/>
        </p:nvSpPr>
        <p:spPr>
          <a:xfrm>
            <a:off x="4343400" y="1856232"/>
            <a:ext cx="3520440" cy="3557016"/>
          </a:xfrm>
          <a:prstGeom prst="rect">
            <a:avLst/>
          </a:prstGeom>
          <a:solidFill>
            <a:srgbClr val="FFFFFF"/>
          </a:solidFill>
          <a:ln w="12700">
            <a:solidFill>
              <a:srgbClr val="FFFFFF">
                <a:alpha val="0"/>
              </a:srgbClr>
            </a:solidFill>
            <a:prstDash val="solid"/>
          </a:ln>
        </p:spPr>
      </p:sp>
      <p:sp>
        <p:nvSpPr>
          <p:cNvPr id="12" name="Shape 9"/>
          <p:cNvSpPr/>
          <p:nvPr/>
        </p:nvSpPr>
        <p:spPr>
          <a:xfrm>
            <a:off x="4343400" y="1856232"/>
            <a:ext cx="54864" cy="3557016"/>
          </a:xfrm>
          <a:prstGeom prst="rect">
            <a:avLst/>
          </a:prstGeom>
          <a:solidFill>
            <a:srgbClr val="F2B337"/>
          </a:solidFill>
          <a:ln w="12700">
            <a:solidFill>
              <a:srgbClr val="F2B337">
                <a:alpha val="0"/>
              </a:srgbClr>
            </a:solidFill>
            <a:prstDash val="solid"/>
          </a:ln>
        </p:spPr>
      </p:sp>
      <p:sp>
        <p:nvSpPr>
          <p:cNvPr id="13" name="Text 10"/>
          <p:cNvSpPr/>
          <p:nvPr/>
        </p:nvSpPr>
        <p:spPr>
          <a:xfrm>
            <a:off x="455371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02</a:t>
            </a:r>
            <a:endParaRPr lang="en-US" sz="1300" dirty="0"/>
          </a:p>
        </p:txBody>
      </p:sp>
      <p:sp>
        <p:nvSpPr>
          <p:cNvPr id="14" name="Text 11"/>
          <p:cNvSpPr/>
          <p:nvPr/>
        </p:nvSpPr>
        <p:spPr>
          <a:xfrm>
            <a:off x="455371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Start the pursuit</a:t>
            </a:r>
            <a:endParaRPr lang="en-US" sz="2200" dirty="0"/>
          </a:p>
        </p:txBody>
      </p:sp>
      <p:sp>
        <p:nvSpPr>
          <p:cNvPr id="15" name="Text 12"/>
          <p:cNvSpPr/>
          <p:nvPr/>
        </p:nvSpPr>
        <p:spPr>
          <a:xfrm>
            <a:off x="455371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Use the opportunity’s pursuit/planning control. Give the workspace a recognizable name.</a:t>
            </a:r>
            <a:endParaRPr lang="en-US" sz="1800" dirty="0"/>
          </a:p>
        </p:txBody>
      </p:sp>
      <p:sp>
        <p:nvSpPr>
          <p:cNvPr id="16" name="Shape 13"/>
          <p:cNvSpPr/>
          <p:nvPr/>
        </p:nvSpPr>
        <p:spPr>
          <a:xfrm>
            <a:off x="8092440" y="1856232"/>
            <a:ext cx="3520440" cy="3557016"/>
          </a:xfrm>
          <a:prstGeom prst="rect">
            <a:avLst/>
          </a:prstGeom>
          <a:solidFill>
            <a:srgbClr val="FFFFFF"/>
          </a:solidFill>
          <a:ln w="12700">
            <a:solidFill>
              <a:srgbClr val="FFFFFF">
                <a:alpha val="0"/>
              </a:srgbClr>
            </a:solidFill>
            <a:prstDash val="solid"/>
          </a:ln>
        </p:spPr>
      </p:sp>
      <p:sp>
        <p:nvSpPr>
          <p:cNvPr id="17" name="Shape 14"/>
          <p:cNvSpPr/>
          <p:nvPr/>
        </p:nvSpPr>
        <p:spPr>
          <a:xfrm>
            <a:off x="8092440" y="1856232"/>
            <a:ext cx="54864" cy="3557016"/>
          </a:xfrm>
          <a:prstGeom prst="rect">
            <a:avLst/>
          </a:prstGeom>
          <a:solidFill>
            <a:srgbClr val="235AF5"/>
          </a:solidFill>
          <a:ln w="12700">
            <a:solidFill>
              <a:srgbClr val="235AF5">
                <a:alpha val="0"/>
              </a:srgbClr>
            </a:solidFill>
            <a:prstDash val="solid"/>
          </a:ln>
        </p:spPr>
      </p:sp>
      <p:sp>
        <p:nvSpPr>
          <p:cNvPr id="18" name="Text 15"/>
          <p:cNvSpPr/>
          <p:nvPr/>
        </p:nvSpPr>
        <p:spPr>
          <a:xfrm>
            <a:off x="830275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03</a:t>
            </a:r>
            <a:endParaRPr lang="en-US" sz="1300" dirty="0"/>
          </a:p>
        </p:txBody>
      </p:sp>
      <p:sp>
        <p:nvSpPr>
          <p:cNvPr id="19" name="Text 16"/>
          <p:cNvSpPr/>
          <p:nvPr/>
        </p:nvSpPr>
        <p:spPr>
          <a:xfrm>
            <a:off x="830275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Work in that pursuit</a:t>
            </a:r>
            <a:endParaRPr lang="en-US" sz="2200" dirty="0"/>
          </a:p>
        </p:txBody>
      </p:sp>
      <p:sp>
        <p:nvSpPr>
          <p:cNvPr id="20" name="Text 17"/>
          <p:cNvSpPr/>
          <p:nvPr/>
        </p:nvSpPr>
        <p:spPr>
          <a:xfrm>
            <a:off x="830275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Keep requirements, decision history, tasks, response drafts and release records together.</a:t>
            </a:r>
            <a:endParaRPr lang="en-US" sz="1800" dirty="0"/>
          </a:p>
        </p:txBody>
      </p:sp>
      <p:sp>
        <p:nvSpPr>
          <p:cNvPr id="21" name="Shape 18"/>
          <p:cNvSpPr/>
          <p:nvPr/>
        </p:nvSpPr>
        <p:spPr>
          <a:xfrm>
            <a:off x="594360" y="5650992"/>
            <a:ext cx="11018520" cy="576072"/>
          </a:xfrm>
          <a:prstGeom prst="rect">
            <a:avLst/>
          </a:prstGeom>
          <a:solidFill>
            <a:srgbClr val="0D1933"/>
          </a:solidFill>
          <a:ln w="12700">
            <a:solidFill>
              <a:srgbClr val="0D1933">
                <a:alpha val="0"/>
              </a:srgbClr>
            </a:solidFill>
            <a:prstDash val="solid"/>
          </a:ln>
        </p:spPr>
      </p:sp>
      <p:sp>
        <p:nvSpPr>
          <p:cNvPr id="22" name="Text 19"/>
          <p:cNvSpPr/>
          <p:nvPr/>
        </p:nvSpPr>
        <p:spPr>
          <a:xfrm>
            <a:off x="777240" y="5779008"/>
            <a:ext cx="10607040" cy="374904"/>
          </a:xfrm>
          <a:prstGeom prst="rect">
            <a:avLst/>
          </a:prstGeom>
          <a:noFill/>
          <a:ln/>
        </p:spPr>
        <p:txBody>
          <a:bodyPr wrap="square" lIns="0" tIns="0" rIns="0" bIns="0" rtlCol="0" anchor="t"/>
          <a:lstStyle/>
          <a:p>
            <a:pPr indent="0" marL="0">
              <a:buNone/>
            </a:pPr>
            <a:r>
              <a:rPr lang="en-US" sz="1400" dirty="0">
                <a:solidFill>
                  <a:srgbClr val="FFFFFF"/>
                </a:solidFill>
                <a:latin typeface="Aptos" pitchFamily="34" charset="0"/>
                <a:ea typeface="Aptos" pitchFamily="34" charset="-122"/>
                <a:cs typeface="Aptos" pitchFamily="34" charset="-120"/>
              </a:rPr>
              <a:t>Starting a pursuit is a planning step. It is not a final decision to bid.</a:t>
            </a:r>
            <a:endParaRPr lang="en-US" sz="1400" dirty="0"/>
          </a:p>
        </p:txBody>
      </p:sp>
      <p:sp>
        <p:nvSpPr>
          <p:cNvPr id="23" name="Text 2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24" name="Text 2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07 / REQUIREMENTS REGISTER</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Extract candidate requirements</a:t>
            </a:r>
            <a:endParaRPr lang="en-US" sz="3000" dirty="0"/>
          </a:p>
        </p:txBody>
      </p:sp>
      <p:sp>
        <p:nvSpPr>
          <p:cNvPr id="6" name="Shape 3"/>
          <p:cNvSpPr/>
          <p:nvPr/>
        </p:nvSpPr>
        <p:spPr>
          <a:xfrm>
            <a:off x="594360" y="1856232"/>
            <a:ext cx="3520440" cy="3557016"/>
          </a:xfrm>
          <a:prstGeom prst="rect">
            <a:avLst/>
          </a:prstGeom>
          <a:solidFill>
            <a:srgbClr val="FFFFFF"/>
          </a:solidFill>
          <a:ln w="12700">
            <a:solidFill>
              <a:srgbClr val="FFFFFF">
                <a:alpha val="0"/>
              </a:srgbClr>
            </a:solidFill>
            <a:prstDash val="solid"/>
          </a:ln>
        </p:spPr>
      </p:sp>
      <p:sp>
        <p:nvSpPr>
          <p:cNvPr id="7" name="Shape 4"/>
          <p:cNvSpPr/>
          <p:nvPr/>
        </p:nvSpPr>
        <p:spPr>
          <a:xfrm>
            <a:off x="594360" y="1856232"/>
            <a:ext cx="54864" cy="3557016"/>
          </a:xfrm>
          <a:prstGeom prst="rect">
            <a:avLst/>
          </a:prstGeom>
          <a:solidFill>
            <a:srgbClr val="235AF5"/>
          </a:solidFill>
          <a:ln w="12700">
            <a:solidFill>
              <a:srgbClr val="235AF5">
                <a:alpha val="0"/>
              </a:srgbClr>
            </a:solidFill>
            <a:prstDash val="solid"/>
          </a:ln>
        </p:spPr>
      </p:sp>
      <p:sp>
        <p:nvSpPr>
          <p:cNvPr id="8" name="Text 5"/>
          <p:cNvSpPr/>
          <p:nvPr/>
        </p:nvSpPr>
        <p:spPr>
          <a:xfrm>
            <a:off x="80467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01</a:t>
            </a:r>
            <a:endParaRPr lang="en-US" sz="1300" dirty="0"/>
          </a:p>
        </p:txBody>
      </p:sp>
      <p:sp>
        <p:nvSpPr>
          <p:cNvPr id="9" name="Text 6"/>
          <p:cNvSpPr/>
          <p:nvPr/>
        </p:nvSpPr>
        <p:spPr>
          <a:xfrm>
            <a:off x="80467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Paste a notice excerpt</a:t>
            </a:r>
            <a:endParaRPr lang="en-US" sz="2200" dirty="0"/>
          </a:p>
        </p:txBody>
      </p:sp>
      <p:sp>
        <p:nvSpPr>
          <p:cNvPr id="10" name="Text 7"/>
          <p:cNvSpPr/>
          <p:nvPr/>
        </p:nvSpPr>
        <p:spPr>
          <a:xfrm>
            <a:off x="80467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Use the notice-review area in the pursuit. Include a source reference and relevant original wording.</a:t>
            </a:r>
            <a:endParaRPr lang="en-US" sz="1800" dirty="0"/>
          </a:p>
        </p:txBody>
      </p:sp>
      <p:sp>
        <p:nvSpPr>
          <p:cNvPr id="11" name="Shape 8"/>
          <p:cNvSpPr/>
          <p:nvPr/>
        </p:nvSpPr>
        <p:spPr>
          <a:xfrm>
            <a:off x="4343400" y="1856232"/>
            <a:ext cx="3520440" cy="3557016"/>
          </a:xfrm>
          <a:prstGeom prst="rect">
            <a:avLst/>
          </a:prstGeom>
          <a:solidFill>
            <a:srgbClr val="FFFFFF"/>
          </a:solidFill>
          <a:ln w="12700">
            <a:solidFill>
              <a:srgbClr val="FFFFFF">
                <a:alpha val="0"/>
              </a:srgbClr>
            </a:solidFill>
            <a:prstDash val="solid"/>
          </a:ln>
        </p:spPr>
      </p:sp>
      <p:sp>
        <p:nvSpPr>
          <p:cNvPr id="12" name="Shape 9"/>
          <p:cNvSpPr/>
          <p:nvPr/>
        </p:nvSpPr>
        <p:spPr>
          <a:xfrm>
            <a:off x="4343400" y="1856232"/>
            <a:ext cx="54864" cy="3557016"/>
          </a:xfrm>
          <a:prstGeom prst="rect">
            <a:avLst/>
          </a:prstGeom>
          <a:solidFill>
            <a:srgbClr val="F2B337"/>
          </a:solidFill>
          <a:ln w="12700">
            <a:solidFill>
              <a:srgbClr val="F2B337">
                <a:alpha val="0"/>
              </a:srgbClr>
            </a:solidFill>
            <a:prstDash val="solid"/>
          </a:ln>
        </p:spPr>
      </p:sp>
      <p:sp>
        <p:nvSpPr>
          <p:cNvPr id="13" name="Text 10"/>
          <p:cNvSpPr/>
          <p:nvPr/>
        </p:nvSpPr>
        <p:spPr>
          <a:xfrm>
            <a:off x="455371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02</a:t>
            </a:r>
            <a:endParaRPr lang="en-US" sz="1300" dirty="0"/>
          </a:p>
        </p:txBody>
      </p:sp>
      <p:sp>
        <p:nvSpPr>
          <p:cNvPr id="14" name="Text 11"/>
          <p:cNvSpPr/>
          <p:nvPr/>
        </p:nvSpPr>
        <p:spPr>
          <a:xfrm>
            <a:off x="455371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Inspect the suggestions</a:t>
            </a:r>
            <a:endParaRPr lang="en-US" sz="2200" dirty="0"/>
          </a:p>
        </p:txBody>
      </p:sp>
      <p:sp>
        <p:nvSpPr>
          <p:cNvPr id="15" name="Text 12"/>
          <p:cNvSpPr/>
          <p:nvPr/>
        </p:nvSpPr>
        <p:spPr>
          <a:xfrm>
            <a:off x="455371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Check candidate requirements and the California checklist heuristics against the quoted source.</a:t>
            </a:r>
            <a:endParaRPr lang="en-US" sz="1800" dirty="0"/>
          </a:p>
        </p:txBody>
      </p:sp>
      <p:sp>
        <p:nvSpPr>
          <p:cNvPr id="16" name="Shape 13"/>
          <p:cNvSpPr/>
          <p:nvPr/>
        </p:nvSpPr>
        <p:spPr>
          <a:xfrm>
            <a:off x="8092440" y="1856232"/>
            <a:ext cx="3520440" cy="3557016"/>
          </a:xfrm>
          <a:prstGeom prst="rect">
            <a:avLst/>
          </a:prstGeom>
          <a:solidFill>
            <a:srgbClr val="FFFFFF"/>
          </a:solidFill>
          <a:ln w="12700">
            <a:solidFill>
              <a:srgbClr val="FFFFFF">
                <a:alpha val="0"/>
              </a:srgbClr>
            </a:solidFill>
            <a:prstDash val="solid"/>
          </a:ln>
        </p:spPr>
      </p:sp>
      <p:sp>
        <p:nvSpPr>
          <p:cNvPr id="17" name="Shape 14"/>
          <p:cNvSpPr/>
          <p:nvPr/>
        </p:nvSpPr>
        <p:spPr>
          <a:xfrm>
            <a:off x="8092440" y="1856232"/>
            <a:ext cx="54864" cy="3557016"/>
          </a:xfrm>
          <a:prstGeom prst="rect">
            <a:avLst/>
          </a:prstGeom>
          <a:solidFill>
            <a:srgbClr val="235AF5"/>
          </a:solidFill>
          <a:ln w="12700">
            <a:solidFill>
              <a:srgbClr val="235AF5">
                <a:alpha val="0"/>
              </a:srgbClr>
            </a:solidFill>
            <a:prstDash val="solid"/>
          </a:ln>
        </p:spPr>
      </p:sp>
      <p:sp>
        <p:nvSpPr>
          <p:cNvPr id="18" name="Text 15"/>
          <p:cNvSpPr/>
          <p:nvPr/>
        </p:nvSpPr>
        <p:spPr>
          <a:xfrm>
            <a:off x="830275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03</a:t>
            </a:r>
            <a:endParaRPr lang="en-US" sz="1300" dirty="0"/>
          </a:p>
        </p:txBody>
      </p:sp>
      <p:sp>
        <p:nvSpPr>
          <p:cNvPr id="19" name="Text 16"/>
          <p:cNvSpPr/>
          <p:nvPr/>
        </p:nvSpPr>
        <p:spPr>
          <a:xfrm>
            <a:off x="830275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Save only what applies</a:t>
            </a:r>
            <a:endParaRPr lang="en-US" sz="2200" dirty="0"/>
          </a:p>
        </p:txBody>
      </p:sp>
      <p:sp>
        <p:nvSpPr>
          <p:cNvPr id="20" name="Text 17"/>
          <p:cNvSpPr/>
          <p:nvPr/>
        </p:nvSpPr>
        <p:spPr>
          <a:xfrm>
            <a:off x="830275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Add/edit cited requirements. Fill omissions manually; dismiss irrelevant suggestions.</a:t>
            </a:r>
            <a:endParaRPr lang="en-US" sz="1800" dirty="0"/>
          </a:p>
        </p:txBody>
      </p:sp>
      <p:sp>
        <p:nvSpPr>
          <p:cNvPr id="21" name="Shape 18"/>
          <p:cNvSpPr/>
          <p:nvPr/>
        </p:nvSpPr>
        <p:spPr>
          <a:xfrm>
            <a:off x="594360" y="5650992"/>
            <a:ext cx="11018520" cy="576072"/>
          </a:xfrm>
          <a:prstGeom prst="rect">
            <a:avLst/>
          </a:prstGeom>
          <a:solidFill>
            <a:srgbClr val="0D1933"/>
          </a:solidFill>
          <a:ln w="12700">
            <a:solidFill>
              <a:srgbClr val="0D1933">
                <a:alpha val="0"/>
              </a:srgbClr>
            </a:solidFill>
            <a:prstDash val="solid"/>
          </a:ln>
        </p:spPr>
      </p:sp>
      <p:sp>
        <p:nvSpPr>
          <p:cNvPr id="22" name="Text 19"/>
          <p:cNvSpPr/>
          <p:nvPr/>
        </p:nvSpPr>
        <p:spPr>
          <a:xfrm>
            <a:off x="777240" y="5779008"/>
            <a:ext cx="10607040" cy="374904"/>
          </a:xfrm>
          <a:prstGeom prst="rect">
            <a:avLst/>
          </a:prstGeom>
          <a:noFill/>
          <a:ln/>
        </p:spPr>
        <p:txBody>
          <a:bodyPr wrap="square" lIns="0" tIns="0" rIns="0" bIns="0" rtlCol="0" anchor="t"/>
          <a:lstStyle/>
          <a:p>
            <a:pPr indent="0" marL="0">
              <a:buNone/>
            </a:pPr>
            <a:r>
              <a:rPr lang="en-US" sz="1400" dirty="0">
                <a:solidFill>
                  <a:srgbClr val="FFFFFF"/>
                </a:solidFill>
                <a:latin typeface="Aptos" pitchFamily="34" charset="0"/>
                <a:ea typeface="Aptos" pitchFamily="34" charset="-122"/>
                <a:cs typeface="Aptos" pitchFamily="34" charset="-120"/>
              </a:rPr>
              <a:t>Candidate requirements may be incomplete or inaccurate until a person reviews and signs off.</a:t>
            </a:r>
            <a:endParaRPr lang="en-US" sz="1400" dirty="0"/>
          </a:p>
        </p:txBody>
      </p:sp>
      <p:sp>
        <p:nvSpPr>
          <p:cNvPr id="23" name="Text 2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24" name="Text 2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07 / REQUIREMENTS REGISTER</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Review each requirement and its evidence</a:t>
            </a:r>
            <a:endParaRPr lang="en-US" sz="3000" dirty="0"/>
          </a:p>
        </p:txBody>
      </p:sp>
      <p:sp>
        <p:nvSpPr>
          <p:cNvPr id="6" name="Shape 3"/>
          <p:cNvSpPr/>
          <p:nvPr/>
        </p:nvSpPr>
        <p:spPr>
          <a:xfrm>
            <a:off x="594360" y="1856232"/>
            <a:ext cx="3520440" cy="3557016"/>
          </a:xfrm>
          <a:prstGeom prst="rect">
            <a:avLst/>
          </a:prstGeom>
          <a:solidFill>
            <a:srgbClr val="FFFFFF"/>
          </a:solidFill>
          <a:ln w="12700">
            <a:solidFill>
              <a:srgbClr val="FFFFFF">
                <a:alpha val="0"/>
              </a:srgbClr>
            </a:solidFill>
            <a:prstDash val="solid"/>
          </a:ln>
        </p:spPr>
      </p:sp>
      <p:sp>
        <p:nvSpPr>
          <p:cNvPr id="7" name="Shape 4"/>
          <p:cNvSpPr/>
          <p:nvPr/>
        </p:nvSpPr>
        <p:spPr>
          <a:xfrm>
            <a:off x="594360" y="1856232"/>
            <a:ext cx="54864" cy="3557016"/>
          </a:xfrm>
          <a:prstGeom prst="rect">
            <a:avLst/>
          </a:prstGeom>
          <a:solidFill>
            <a:srgbClr val="235AF5"/>
          </a:solidFill>
          <a:ln w="12700">
            <a:solidFill>
              <a:srgbClr val="235AF5">
                <a:alpha val="0"/>
              </a:srgbClr>
            </a:solidFill>
            <a:prstDash val="solid"/>
          </a:ln>
        </p:spPr>
      </p:sp>
      <p:sp>
        <p:nvSpPr>
          <p:cNvPr id="8" name="Text 5"/>
          <p:cNvSpPr/>
          <p:nvPr/>
        </p:nvSpPr>
        <p:spPr>
          <a:xfrm>
            <a:off x="80467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01</a:t>
            </a:r>
            <a:endParaRPr lang="en-US" sz="1300" dirty="0"/>
          </a:p>
        </p:txBody>
      </p:sp>
      <p:sp>
        <p:nvSpPr>
          <p:cNvPr id="9" name="Text 6"/>
          <p:cNvSpPr/>
          <p:nvPr/>
        </p:nvSpPr>
        <p:spPr>
          <a:xfrm>
            <a:off x="80467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Keep a traceable row</a:t>
            </a:r>
            <a:endParaRPr lang="en-US" sz="2200" dirty="0"/>
          </a:p>
        </p:txBody>
      </p:sp>
      <p:sp>
        <p:nvSpPr>
          <p:cNvPr id="10" name="Text 7"/>
          <p:cNvSpPr/>
          <p:nvPr/>
        </p:nvSpPr>
        <p:spPr>
          <a:xfrm>
            <a:off x="80467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Check requirement wording and citation. Assign an owner and record clarification needs.</a:t>
            </a:r>
            <a:endParaRPr lang="en-US" sz="1800" dirty="0"/>
          </a:p>
        </p:txBody>
      </p:sp>
      <p:sp>
        <p:nvSpPr>
          <p:cNvPr id="11" name="Shape 8"/>
          <p:cNvSpPr/>
          <p:nvPr/>
        </p:nvSpPr>
        <p:spPr>
          <a:xfrm>
            <a:off x="4343400" y="1856232"/>
            <a:ext cx="3520440" cy="3557016"/>
          </a:xfrm>
          <a:prstGeom prst="rect">
            <a:avLst/>
          </a:prstGeom>
          <a:solidFill>
            <a:srgbClr val="FFFFFF"/>
          </a:solidFill>
          <a:ln w="12700">
            <a:solidFill>
              <a:srgbClr val="FFFFFF">
                <a:alpha val="0"/>
              </a:srgbClr>
            </a:solidFill>
            <a:prstDash val="solid"/>
          </a:ln>
        </p:spPr>
      </p:sp>
      <p:sp>
        <p:nvSpPr>
          <p:cNvPr id="12" name="Shape 9"/>
          <p:cNvSpPr/>
          <p:nvPr/>
        </p:nvSpPr>
        <p:spPr>
          <a:xfrm>
            <a:off x="4343400" y="1856232"/>
            <a:ext cx="54864" cy="3557016"/>
          </a:xfrm>
          <a:prstGeom prst="rect">
            <a:avLst/>
          </a:prstGeom>
          <a:solidFill>
            <a:srgbClr val="F2B337"/>
          </a:solidFill>
          <a:ln w="12700">
            <a:solidFill>
              <a:srgbClr val="F2B337">
                <a:alpha val="0"/>
              </a:srgbClr>
            </a:solidFill>
            <a:prstDash val="solid"/>
          </a:ln>
        </p:spPr>
      </p:sp>
      <p:sp>
        <p:nvSpPr>
          <p:cNvPr id="13" name="Text 10"/>
          <p:cNvSpPr/>
          <p:nvPr/>
        </p:nvSpPr>
        <p:spPr>
          <a:xfrm>
            <a:off x="455371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02</a:t>
            </a:r>
            <a:endParaRPr lang="en-US" sz="1300" dirty="0"/>
          </a:p>
        </p:txBody>
      </p:sp>
      <p:sp>
        <p:nvSpPr>
          <p:cNvPr id="14" name="Text 11"/>
          <p:cNvSpPr/>
          <p:nvPr/>
        </p:nvSpPr>
        <p:spPr>
          <a:xfrm>
            <a:off x="455371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Review evidence use</a:t>
            </a:r>
            <a:endParaRPr lang="en-US" sz="2200" dirty="0"/>
          </a:p>
        </p:txBody>
      </p:sp>
      <p:sp>
        <p:nvSpPr>
          <p:cNvPr id="15" name="Text 12"/>
          <p:cNvSpPr/>
          <p:nvPr/>
        </p:nvSpPr>
        <p:spPr>
          <a:xfrm>
            <a:off x="455371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Choose the company evidence. Assess applicability and whether it is approved for this requirement.</a:t>
            </a:r>
            <a:endParaRPr lang="en-US" sz="1800" dirty="0"/>
          </a:p>
        </p:txBody>
      </p:sp>
      <p:sp>
        <p:nvSpPr>
          <p:cNvPr id="16" name="Shape 13"/>
          <p:cNvSpPr/>
          <p:nvPr/>
        </p:nvSpPr>
        <p:spPr>
          <a:xfrm>
            <a:off x="8092440" y="1856232"/>
            <a:ext cx="3520440" cy="3557016"/>
          </a:xfrm>
          <a:prstGeom prst="rect">
            <a:avLst/>
          </a:prstGeom>
          <a:solidFill>
            <a:srgbClr val="FFFFFF"/>
          </a:solidFill>
          <a:ln w="12700">
            <a:solidFill>
              <a:srgbClr val="FFFFFF">
                <a:alpha val="0"/>
              </a:srgbClr>
            </a:solidFill>
            <a:prstDash val="solid"/>
          </a:ln>
        </p:spPr>
      </p:sp>
      <p:sp>
        <p:nvSpPr>
          <p:cNvPr id="17" name="Shape 14"/>
          <p:cNvSpPr/>
          <p:nvPr/>
        </p:nvSpPr>
        <p:spPr>
          <a:xfrm>
            <a:off x="8092440" y="1856232"/>
            <a:ext cx="54864" cy="3557016"/>
          </a:xfrm>
          <a:prstGeom prst="rect">
            <a:avLst/>
          </a:prstGeom>
          <a:solidFill>
            <a:srgbClr val="235AF5"/>
          </a:solidFill>
          <a:ln w="12700">
            <a:solidFill>
              <a:srgbClr val="235AF5">
                <a:alpha val="0"/>
              </a:srgbClr>
            </a:solidFill>
            <a:prstDash val="solid"/>
          </a:ln>
        </p:spPr>
      </p:sp>
      <p:sp>
        <p:nvSpPr>
          <p:cNvPr id="18" name="Text 15"/>
          <p:cNvSpPr/>
          <p:nvPr/>
        </p:nvSpPr>
        <p:spPr>
          <a:xfrm>
            <a:off x="830275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03</a:t>
            </a:r>
            <a:endParaRPr lang="en-US" sz="1300" dirty="0"/>
          </a:p>
        </p:txBody>
      </p:sp>
      <p:sp>
        <p:nvSpPr>
          <p:cNvPr id="19" name="Text 16"/>
          <p:cNvSpPr/>
          <p:nvPr/>
        </p:nvSpPr>
        <p:spPr>
          <a:xfrm>
            <a:off x="830275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Record a human finding</a:t>
            </a:r>
            <a:endParaRPr lang="en-US" sz="2200" dirty="0"/>
          </a:p>
        </p:txBody>
      </p:sp>
      <p:sp>
        <p:nvSpPr>
          <p:cNvPr id="20" name="Text 17"/>
          <p:cNvSpPr/>
          <p:nvPr/>
        </p:nvSpPr>
        <p:spPr>
          <a:xfrm>
            <a:off x="830275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Use supported, blocked, awaiting clarification, needs review or not applicable—with a reason.</a:t>
            </a:r>
            <a:endParaRPr lang="en-US" sz="1800" dirty="0"/>
          </a:p>
        </p:txBody>
      </p:sp>
      <p:sp>
        <p:nvSpPr>
          <p:cNvPr id="21" name="Shape 18"/>
          <p:cNvSpPr/>
          <p:nvPr/>
        </p:nvSpPr>
        <p:spPr>
          <a:xfrm>
            <a:off x="594360" y="5650992"/>
            <a:ext cx="11018520" cy="576072"/>
          </a:xfrm>
          <a:prstGeom prst="rect">
            <a:avLst/>
          </a:prstGeom>
          <a:solidFill>
            <a:srgbClr val="0D1933"/>
          </a:solidFill>
          <a:ln w="12700">
            <a:solidFill>
              <a:srgbClr val="0D1933">
                <a:alpha val="0"/>
              </a:srgbClr>
            </a:solidFill>
            <a:prstDash val="solid"/>
          </a:ln>
        </p:spPr>
      </p:sp>
      <p:sp>
        <p:nvSpPr>
          <p:cNvPr id="22" name="Text 19"/>
          <p:cNvSpPr/>
          <p:nvPr/>
        </p:nvSpPr>
        <p:spPr>
          <a:xfrm>
            <a:off x="777240" y="5779008"/>
            <a:ext cx="10607040" cy="374904"/>
          </a:xfrm>
          <a:prstGeom prst="rect">
            <a:avLst/>
          </a:prstGeom>
          <a:noFill/>
          <a:ln/>
        </p:spPr>
        <p:txBody>
          <a:bodyPr wrap="square" lIns="0" tIns="0" rIns="0" bIns="0" rtlCol="0" anchor="t"/>
          <a:lstStyle/>
          <a:p>
            <a:pPr indent="0" marL="0">
              <a:buNone/>
            </a:pPr>
            <a:r>
              <a:rPr lang="en-US" sz="1400" dirty="0">
                <a:solidFill>
                  <a:srgbClr val="FFFFFF"/>
                </a:solidFill>
                <a:latin typeface="Aptos" pitchFamily="34" charset="0"/>
                <a:ea typeface="Aptos" pitchFamily="34" charset="-122"/>
                <a:cs typeface="Aptos" pitchFamily="34" charset="-120"/>
              </a:rPr>
              <a:t>A saved company fact is not automatically approved evidence for this pursuit.</a:t>
            </a:r>
            <a:endParaRPr lang="en-US" sz="1400" dirty="0"/>
          </a:p>
        </p:txBody>
      </p:sp>
      <p:sp>
        <p:nvSpPr>
          <p:cNvPr id="23" name="Text 2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24" name="Text 2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08 / HUMAN SIGN-OFF</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Sign off the register before deciding</a:t>
            </a:r>
            <a:endParaRPr lang="en-US" sz="3000" dirty="0"/>
          </a:p>
        </p:txBody>
      </p:sp>
      <p:sp>
        <p:nvSpPr>
          <p:cNvPr id="6" name="Shape 3"/>
          <p:cNvSpPr/>
          <p:nvPr/>
        </p:nvSpPr>
        <p:spPr>
          <a:xfrm>
            <a:off x="594360" y="1856232"/>
            <a:ext cx="3520440" cy="3557016"/>
          </a:xfrm>
          <a:prstGeom prst="rect">
            <a:avLst/>
          </a:prstGeom>
          <a:solidFill>
            <a:srgbClr val="FFFFFF"/>
          </a:solidFill>
          <a:ln w="12700">
            <a:solidFill>
              <a:srgbClr val="FFFFFF">
                <a:alpha val="0"/>
              </a:srgbClr>
            </a:solidFill>
            <a:prstDash val="solid"/>
          </a:ln>
        </p:spPr>
      </p:sp>
      <p:sp>
        <p:nvSpPr>
          <p:cNvPr id="7" name="Shape 4"/>
          <p:cNvSpPr/>
          <p:nvPr/>
        </p:nvSpPr>
        <p:spPr>
          <a:xfrm>
            <a:off x="594360" y="1856232"/>
            <a:ext cx="54864" cy="3557016"/>
          </a:xfrm>
          <a:prstGeom prst="rect">
            <a:avLst/>
          </a:prstGeom>
          <a:solidFill>
            <a:srgbClr val="235AF5"/>
          </a:solidFill>
          <a:ln w="12700">
            <a:solidFill>
              <a:srgbClr val="235AF5">
                <a:alpha val="0"/>
              </a:srgbClr>
            </a:solidFill>
            <a:prstDash val="solid"/>
          </a:ln>
        </p:spPr>
      </p:sp>
      <p:sp>
        <p:nvSpPr>
          <p:cNvPr id="8" name="Text 5"/>
          <p:cNvSpPr/>
          <p:nvPr/>
        </p:nvSpPr>
        <p:spPr>
          <a:xfrm>
            <a:off x="80467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01</a:t>
            </a:r>
            <a:endParaRPr lang="en-US" sz="1300" dirty="0"/>
          </a:p>
        </p:txBody>
      </p:sp>
      <p:sp>
        <p:nvSpPr>
          <p:cNvPr id="9" name="Text 6"/>
          <p:cNvSpPr/>
          <p:nvPr/>
        </p:nvSpPr>
        <p:spPr>
          <a:xfrm>
            <a:off x="80467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Review beyond the extracted rows</a:t>
            </a:r>
            <a:endParaRPr lang="en-US" sz="2200" dirty="0"/>
          </a:p>
        </p:txBody>
      </p:sp>
      <p:sp>
        <p:nvSpPr>
          <p:cNvPr id="10" name="Text 7"/>
          <p:cNvSpPr/>
          <p:nvPr/>
        </p:nvSpPr>
        <p:spPr>
          <a:xfrm>
            <a:off x="80467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Check for missing forms, dates, job walks, bonds, addenda and submission instructions.</a:t>
            </a:r>
            <a:endParaRPr lang="en-US" sz="1800" dirty="0"/>
          </a:p>
        </p:txBody>
      </p:sp>
      <p:sp>
        <p:nvSpPr>
          <p:cNvPr id="11" name="Shape 8"/>
          <p:cNvSpPr/>
          <p:nvPr/>
        </p:nvSpPr>
        <p:spPr>
          <a:xfrm>
            <a:off x="4343400" y="1856232"/>
            <a:ext cx="3520440" cy="3557016"/>
          </a:xfrm>
          <a:prstGeom prst="rect">
            <a:avLst/>
          </a:prstGeom>
          <a:solidFill>
            <a:srgbClr val="FFFFFF"/>
          </a:solidFill>
          <a:ln w="12700">
            <a:solidFill>
              <a:srgbClr val="FFFFFF">
                <a:alpha val="0"/>
              </a:srgbClr>
            </a:solidFill>
            <a:prstDash val="solid"/>
          </a:ln>
        </p:spPr>
      </p:sp>
      <p:sp>
        <p:nvSpPr>
          <p:cNvPr id="12" name="Shape 9"/>
          <p:cNvSpPr/>
          <p:nvPr/>
        </p:nvSpPr>
        <p:spPr>
          <a:xfrm>
            <a:off x="4343400" y="1856232"/>
            <a:ext cx="54864" cy="3557016"/>
          </a:xfrm>
          <a:prstGeom prst="rect">
            <a:avLst/>
          </a:prstGeom>
          <a:solidFill>
            <a:srgbClr val="F2B337"/>
          </a:solidFill>
          <a:ln w="12700">
            <a:solidFill>
              <a:srgbClr val="F2B337">
                <a:alpha val="0"/>
              </a:srgbClr>
            </a:solidFill>
            <a:prstDash val="solid"/>
          </a:ln>
        </p:spPr>
      </p:sp>
      <p:sp>
        <p:nvSpPr>
          <p:cNvPr id="13" name="Text 10"/>
          <p:cNvSpPr/>
          <p:nvPr/>
        </p:nvSpPr>
        <p:spPr>
          <a:xfrm>
            <a:off x="455371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02</a:t>
            </a:r>
            <a:endParaRPr lang="en-US" sz="1300" dirty="0"/>
          </a:p>
        </p:txBody>
      </p:sp>
      <p:sp>
        <p:nvSpPr>
          <p:cNvPr id="14" name="Text 11"/>
          <p:cNvSpPr/>
          <p:nvPr/>
        </p:nvSpPr>
        <p:spPr>
          <a:xfrm>
            <a:off x="455371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Record the sign-off</a:t>
            </a:r>
            <a:endParaRPr lang="en-US" sz="2200" dirty="0"/>
          </a:p>
        </p:txBody>
      </p:sp>
      <p:sp>
        <p:nvSpPr>
          <p:cNvPr id="15" name="Text 12"/>
          <p:cNvSpPr/>
          <p:nvPr/>
        </p:nvSpPr>
        <p:spPr>
          <a:xfrm>
            <a:off x="455371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Open Requirements Register sign-off. Enter a review note and confirm the acknowledgment.</a:t>
            </a:r>
            <a:endParaRPr lang="en-US" sz="1800" dirty="0"/>
          </a:p>
        </p:txBody>
      </p:sp>
      <p:sp>
        <p:nvSpPr>
          <p:cNvPr id="16" name="Shape 13"/>
          <p:cNvSpPr/>
          <p:nvPr/>
        </p:nvSpPr>
        <p:spPr>
          <a:xfrm>
            <a:off x="8092440" y="1856232"/>
            <a:ext cx="3520440" cy="3557016"/>
          </a:xfrm>
          <a:prstGeom prst="rect">
            <a:avLst/>
          </a:prstGeom>
          <a:solidFill>
            <a:srgbClr val="FFFFFF"/>
          </a:solidFill>
          <a:ln w="12700">
            <a:solidFill>
              <a:srgbClr val="FFFFFF">
                <a:alpha val="0"/>
              </a:srgbClr>
            </a:solidFill>
            <a:prstDash val="solid"/>
          </a:ln>
        </p:spPr>
      </p:sp>
      <p:sp>
        <p:nvSpPr>
          <p:cNvPr id="17" name="Shape 14"/>
          <p:cNvSpPr/>
          <p:nvPr/>
        </p:nvSpPr>
        <p:spPr>
          <a:xfrm>
            <a:off x="8092440" y="1856232"/>
            <a:ext cx="54864" cy="3557016"/>
          </a:xfrm>
          <a:prstGeom prst="rect">
            <a:avLst/>
          </a:prstGeom>
          <a:solidFill>
            <a:srgbClr val="235AF5"/>
          </a:solidFill>
          <a:ln w="12700">
            <a:solidFill>
              <a:srgbClr val="235AF5">
                <a:alpha val="0"/>
              </a:srgbClr>
            </a:solidFill>
            <a:prstDash val="solid"/>
          </a:ln>
        </p:spPr>
      </p:sp>
      <p:sp>
        <p:nvSpPr>
          <p:cNvPr id="18" name="Text 15"/>
          <p:cNvSpPr/>
          <p:nvPr/>
        </p:nvSpPr>
        <p:spPr>
          <a:xfrm>
            <a:off x="830275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03</a:t>
            </a:r>
            <a:endParaRPr lang="en-US" sz="1300" dirty="0"/>
          </a:p>
        </p:txBody>
      </p:sp>
      <p:sp>
        <p:nvSpPr>
          <p:cNvPr id="19" name="Text 16"/>
          <p:cNvSpPr/>
          <p:nvPr/>
        </p:nvSpPr>
        <p:spPr>
          <a:xfrm>
            <a:off x="830275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Refresh the review context</a:t>
            </a:r>
            <a:endParaRPr lang="en-US" sz="2200" dirty="0"/>
          </a:p>
        </p:txBody>
      </p:sp>
      <p:sp>
        <p:nvSpPr>
          <p:cNvPr id="20" name="Text 17"/>
          <p:cNvSpPr/>
          <p:nvPr/>
        </p:nvSpPr>
        <p:spPr>
          <a:xfrm>
            <a:off x="830275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A current human sign-off enables final bid/no-bid recording. Review outstanding gaps explicitly.</a:t>
            </a:r>
            <a:endParaRPr lang="en-US" sz="1800" dirty="0"/>
          </a:p>
        </p:txBody>
      </p:sp>
      <p:sp>
        <p:nvSpPr>
          <p:cNvPr id="21" name="Shape 18"/>
          <p:cNvSpPr/>
          <p:nvPr/>
        </p:nvSpPr>
        <p:spPr>
          <a:xfrm>
            <a:off x="594360" y="5650992"/>
            <a:ext cx="11018520" cy="576072"/>
          </a:xfrm>
          <a:prstGeom prst="rect">
            <a:avLst/>
          </a:prstGeom>
          <a:solidFill>
            <a:srgbClr val="0D1933"/>
          </a:solidFill>
          <a:ln w="12700">
            <a:solidFill>
              <a:srgbClr val="0D1933">
                <a:alpha val="0"/>
              </a:srgbClr>
            </a:solidFill>
            <a:prstDash val="solid"/>
          </a:ln>
        </p:spPr>
      </p:sp>
      <p:sp>
        <p:nvSpPr>
          <p:cNvPr id="22" name="Text 19"/>
          <p:cNvSpPr/>
          <p:nvPr/>
        </p:nvSpPr>
        <p:spPr>
          <a:xfrm>
            <a:off x="777240" y="5779008"/>
            <a:ext cx="10607040" cy="374904"/>
          </a:xfrm>
          <a:prstGeom prst="rect">
            <a:avLst/>
          </a:prstGeom>
          <a:noFill/>
          <a:ln/>
        </p:spPr>
        <p:txBody>
          <a:bodyPr wrap="square" lIns="0" tIns="0" rIns="0" bIns="0" rtlCol="0" anchor="t"/>
          <a:lstStyle/>
          <a:p>
            <a:pPr indent="0" marL="0">
              <a:buNone/>
            </a:pPr>
            <a:r>
              <a:rPr lang="en-US" sz="1400" dirty="0">
                <a:solidFill>
                  <a:srgbClr val="FFFFFF"/>
                </a:solidFill>
                <a:latin typeface="Aptos" pitchFamily="34" charset="0"/>
                <a:ea typeface="Aptos" pitchFamily="34" charset="-122"/>
                <a:cs typeface="Aptos" pitchFamily="34" charset="-120"/>
              </a:rPr>
              <a:t>Sign-off records a person’s review. It does not certify eligibility or erase blockers.</a:t>
            </a:r>
            <a:endParaRPr lang="en-US" sz="1400" dirty="0"/>
          </a:p>
        </p:txBody>
      </p:sp>
      <p:sp>
        <p:nvSpPr>
          <p:cNvPr id="23" name="Text 2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24" name="Text 2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09 / DECISION</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Write a bid/no-bid decision memo</a:t>
            </a:r>
            <a:endParaRPr lang="en-US" sz="3000" dirty="0"/>
          </a:p>
        </p:txBody>
      </p:sp>
      <p:sp>
        <p:nvSpPr>
          <p:cNvPr id="6" name="Shape 3"/>
          <p:cNvSpPr/>
          <p:nvPr/>
        </p:nvSpPr>
        <p:spPr>
          <a:xfrm>
            <a:off x="594360" y="1856232"/>
            <a:ext cx="3520440" cy="3557016"/>
          </a:xfrm>
          <a:prstGeom prst="rect">
            <a:avLst/>
          </a:prstGeom>
          <a:solidFill>
            <a:srgbClr val="FFFFFF"/>
          </a:solidFill>
          <a:ln w="12700">
            <a:solidFill>
              <a:srgbClr val="FFFFFF">
                <a:alpha val="0"/>
              </a:srgbClr>
            </a:solidFill>
            <a:prstDash val="solid"/>
          </a:ln>
        </p:spPr>
      </p:sp>
      <p:sp>
        <p:nvSpPr>
          <p:cNvPr id="7" name="Shape 4"/>
          <p:cNvSpPr/>
          <p:nvPr/>
        </p:nvSpPr>
        <p:spPr>
          <a:xfrm>
            <a:off x="594360" y="1856232"/>
            <a:ext cx="54864" cy="3557016"/>
          </a:xfrm>
          <a:prstGeom prst="rect">
            <a:avLst/>
          </a:prstGeom>
          <a:solidFill>
            <a:srgbClr val="235AF5"/>
          </a:solidFill>
          <a:ln w="12700">
            <a:solidFill>
              <a:srgbClr val="235AF5">
                <a:alpha val="0"/>
              </a:srgbClr>
            </a:solidFill>
            <a:prstDash val="solid"/>
          </a:ln>
        </p:spPr>
      </p:sp>
      <p:sp>
        <p:nvSpPr>
          <p:cNvPr id="8" name="Text 5"/>
          <p:cNvSpPr/>
          <p:nvPr/>
        </p:nvSpPr>
        <p:spPr>
          <a:xfrm>
            <a:off x="80467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01</a:t>
            </a:r>
            <a:endParaRPr lang="en-US" sz="1300" dirty="0"/>
          </a:p>
        </p:txBody>
      </p:sp>
      <p:sp>
        <p:nvSpPr>
          <p:cNvPr id="9" name="Text 6"/>
          <p:cNvSpPr/>
          <p:nvPr/>
        </p:nvSpPr>
        <p:spPr>
          <a:xfrm>
            <a:off x="80467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Before final review</a:t>
            </a:r>
            <a:endParaRPr lang="en-US" sz="2200" dirty="0"/>
          </a:p>
        </p:txBody>
      </p:sp>
      <p:sp>
        <p:nvSpPr>
          <p:cNvPr id="10" name="Text 7"/>
          <p:cNvSpPr/>
          <p:nvPr/>
        </p:nvSpPr>
        <p:spPr>
          <a:xfrm>
            <a:off x="80467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Use Draft decision, Leaning bid or Leaning pass when the team is still investigating.</a:t>
            </a:r>
            <a:endParaRPr lang="en-US" sz="1800" dirty="0"/>
          </a:p>
        </p:txBody>
      </p:sp>
      <p:sp>
        <p:nvSpPr>
          <p:cNvPr id="11" name="Shape 8"/>
          <p:cNvSpPr/>
          <p:nvPr/>
        </p:nvSpPr>
        <p:spPr>
          <a:xfrm>
            <a:off x="4343400" y="1856232"/>
            <a:ext cx="3520440" cy="3557016"/>
          </a:xfrm>
          <a:prstGeom prst="rect">
            <a:avLst/>
          </a:prstGeom>
          <a:solidFill>
            <a:srgbClr val="FFFFFF"/>
          </a:solidFill>
          <a:ln w="12700">
            <a:solidFill>
              <a:srgbClr val="FFFFFF">
                <a:alpha val="0"/>
              </a:srgbClr>
            </a:solidFill>
            <a:prstDash val="solid"/>
          </a:ln>
        </p:spPr>
      </p:sp>
      <p:sp>
        <p:nvSpPr>
          <p:cNvPr id="12" name="Shape 9"/>
          <p:cNvSpPr/>
          <p:nvPr/>
        </p:nvSpPr>
        <p:spPr>
          <a:xfrm>
            <a:off x="4343400" y="1856232"/>
            <a:ext cx="54864" cy="3557016"/>
          </a:xfrm>
          <a:prstGeom prst="rect">
            <a:avLst/>
          </a:prstGeom>
          <a:solidFill>
            <a:srgbClr val="F2B337"/>
          </a:solidFill>
          <a:ln w="12700">
            <a:solidFill>
              <a:srgbClr val="F2B337">
                <a:alpha val="0"/>
              </a:srgbClr>
            </a:solidFill>
            <a:prstDash val="solid"/>
          </a:ln>
        </p:spPr>
      </p:sp>
      <p:sp>
        <p:nvSpPr>
          <p:cNvPr id="13" name="Text 10"/>
          <p:cNvSpPr/>
          <p:nvPr/>
        </p:nvSpPr>
        <p:spPr>
          <a:xfrm>
            <a:off x="455371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02</a:t>
            </a:r>
            <a:endParaRPr lang="en-US" sz="1300" dirty="0"/>
          </a:p>
        </p:txBody>
      </p:sp>
      <p:sp>
        <p:nvSpPr>
          <p:cNvPr id="14" name="Text 11"/>
          <p:cNvSpPr/>
          <p:nvPr/>
        </p:nvSpPr>
        <p:spPr>
          <a:xfrm>
            <a:off x="455371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When ready to decide</a:t>
            </a:r>
            <a:endParaRPr lang="en-US" sz="2200" dirty="0"/>
          </a:p>
        </p:txBody>
      </p:sp>
      <p:sp>
        <p:nvSpPr>
          <p:cNvPr id="15" name="Text 12"/>
          <p:cNvSpPr/>
          <p:nvPr/>
        </p:nvSpPr>
        <p:spPr>
          <a:xfrm>
            <a:off x="455371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Choose Pursue bid or Do not bid after sign-off. Record rationale, primary reason and pursuit hours.</a:t>
            </a:r>
            <a:endParaRPr lang="en-US" sz="1800" dirty="0"/>
          </a:p>
        </p:txBody>
      </p:sp>
      <p:sp>
        <p:nvSpPr>
          <p:cNvPr id="16" name="Shape 13"/>
          <p:cNvSpPr/>
          <p:nvPr/>
        </p:nvSpPr>
        <p:spPr>
          <a:xfrm>
            <a:off x="8092440" y="1856232"/>
            <a:ext cx="3520440" cy="3557016"/>
          </a:xfrm>
          <a:prstGeom prst="rect">
            <a:avLst/>
          </a:prstGeom>
          <a:solidFill>
            <a:srgbClr val="FFFFFF"/>
          </a:solidFill>
          <a:ln w="12700">
            <a:solidFill>
              <a:srgbClr val="FFFFFF">
                <a:alpha val="0"/>
              </a:srgbClr>
            </a:solidFill>
            <a:prstDash val="solid"/>
          </a:ln>
        </p:spPr>
      </p:sp>
      <p:sp>
        <p:nvSpPr>
          <p:cNvPr id="17" name="Shape 14"/>
          <p:cNvSpPr/>
          <p:nvPr/>
        </p:nvSpPr>
        <p:spPr>
          <a:xfrm>
            <a:off x="8092440" y="1856232"/>
            <a:ext cx="54864" cy="3557016"/>
          </a:xfrm>
          <a:prstGeom prst="rect">
            <a:avLst/>
          </a:prstGeom>
          <a:solidFill>
            <a:srgbClr val="235AF5"/>
          </a:solidFill>
          <a:ln w="12700">
            <a:solidFill>
              <a:srgbClr val="235AF5">
                <a:alpha val="0"/>
              </a:srgbClr>
            </a:solidFill>
            <a:prstDash val="solid"/>
          </a:ln>
        </p:spPr>
      </p:sp>
      <p:sp>
        <p:nvSpPr>
          <p:cNvPr id="18" name="Text 15"/>
          <p:cNvSpPr/>
          <p:nvPr/>
        </p:nvSpPr>
        <p:spPr>
          <a:xfrm>
            <a:off x="830275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03</a:t>
            </a:r>
            <a:endParaRPr lang="en-US" sz="1300" dirty="0"/>
          </a:p>
        </p:txBody>
      </p:sp>
      <p:sp>
        <p:nvSpPr>
          <p:cNvPr id="19" name="Text 16"/>
          <p:cNvSpPr/>
          <p:nvPr/>
        </p:nvSpPr>
        <p:spPr>
          <a:xfrm>
            <a:off x="830275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Keep the limits visible</a:t>
            </a:r>
            <a:endParaRPr lang="en-US" sz="2200" dirty="0"/>
          </a:p>
        </p:txBody>
      </p:sp>
      <p:sp>
        <p:nvSpPr>
          <p:cNvPr id="20" name="Text 17"/>
          <p:cNvSpPr/>
          <p:nvPr/>
        </p:nvSpPr>
        <p:spPr>
          <a:xfrm>
            <a:off x="830275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Document conditions and unresolved risks. Confirm the scope of your authority and save.</a:t>
            </a:r>
            <a:endParaRPr lang="en-US" sz="1800" dirty="0"/>
          </a:p>
        </p:txBody>
      </p:sp>
      <p:sp>
        <p:nvSpPr>
          <p:cNvPr id="21" name="Shape 18"/>
          <p:cNvSpPr/>
          <p:nvPr/>
        </p:nvSpPr>
        <p:spPr>
          <a:xfrm>
            <a:off x="594360" y="5650992"/>
            <a:ext cx="11018520" cy="576072"/>
          </a:xfrm>
          <a:prstGeom prst="rect">
            <a:avLst/>
          </a:prstGeom>
          <a:solidFill>
            <a:srgbClr val="0D1933"/>
          </a:solidFill>
          <a:ln w="12700">
            <a:solidFill>
              <a:srgbClr val="0D1933">
                <a:alpha val="0"/>
              </a:srgbClr>
            </a:solidFill>
            <a:prstDash val="solid"/>
          </a:ln>
        </p:spPr>
      </p:sp>
      <p:sp>
        <p:nvSpPr>
          <p:cNvPr id="22" name="Text 19"/>
          <p:cNvSpPr/>
          <p:nvPr/>
        </p:nvSpPr>
        <p:spPr>
          <a:xfrm>
            <a:off x="777240" y="5779008"/>
            <a:ext cx="10607040" cy="374904"/>
          </a:xfrm>
          <a:prstGeom prst="rect">
            <a:avLst/>
          </a:prstGeom>
          <a:noFill/>
          <a:ln/>
        </p:spPr>
        <p:txBody>
          <a:bodyPr wrap="square" lIns="0" tIns="0" rIns="0" bIns="0" rtlCol="0" anchor="t"/>
          <a:lstStyle/>
          <a:p>
            <a:pPr indent="0" marL="0">
              <a:buNone/>
            </a:pPr>
            <a:r>
              <a:rPr lang="en-US" sz="1400" dirty="0">
                <a:solidFill>
                  <a:srgbClr val="FFFFFF"/>
                </a:solidFill>
                <a:latin typeface="Aptos" pitchFamily="34" charset="0"/>
                <a:ea typeface="Aptos" pitchFamily="34" charset="-122"/>
                <a:cs typeface="Aptos" pitchFamily="34" charset="-120"/>
              </a:rPr>
              <a:t>Pursuit hours are entered by a person. There is no profitability or win-probability score.</a:t>
            </a:r>
            <a:endParaRPr lang="en-US" sz="1400" dirty="0"/>
          </a:p>
        </p:txBody>
      </p:sp>
      <p:sp>
        <p:nvSpPr>
          <p:cNvPr id="23" name="Text 2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24" name="Text 2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10 / TASKS</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Assign the contractor work</a:t>
            </a:r>
            <a:endParaRPr lang="en-US" sz="3000" dirty="0"/>
          </a:p>
        </p:txBody>
      </p:sp>
      <p:sp>
        <p:nvSpPr>
          <p:cNvPr id="6" name="Shape 3"/>
          <p:cNvSpPr/>
          <p:nvPr/>
        </p:nvSpPr>
        <p:spPr>
          <a:xfrm>
            <a:off x="594360" y="1856232"/>
            <a:ext cx="3520440" cy="3557016"/>
          </a:xfrm>
          <a:prstGeom prst="rect">
            <a:avLst/>
          </a:prstGeom>
          <a:solidFill>
            <a:srgbClr val="FFFFFF"/>
          </a:solidFill>
          <a:ln w="12700">
            <a:solidFill>
              <a:srgbClr val="FFFFFF">
                <a:alpha val="0"/>
              </a:srgbClr>
            </a:solidFill>
            <a:prstDash val="solid"/>
          </a:ln>
        </p:spPr>
      </p:sp>
      <p:sp>
        <p:nvSpPr>
          <p:cNvPr id="7" name="Shape 4"/>
          <p:cNvSpPr/>
          <p:nvPr/>
        </p:nvSpPr>
        <p:spPr>
          <a:xfrm>
            <a:off x="594360" y="1856232"/>
            <a:ext cx="54864" cy="3557016"/>
          </a:xfrm>
          <a:prstGeom prst="rect">
            <a:avLst/>
          </a:prstGeom>
          <a:solidFill>
            <a:srgbClr val="235AF5"/>
          </a:solidFill>
          <a:ln w="12700">
            <a:solidFill>
              <a:srgbClr val="235AF5">
                <a:alpha val="0"/>
              </a:srgbClr>
            </a:solidFill>
            <a:prstDash val="solid"/>
          </a:ln>
        </p:spPr>
      </p:sp>
      <p:sp>
        <p:nvSpPr>
          <p:cNvPr id="8" name="Text 5"/>
          <p:cNvSpPr/>
          <p:nvPr/>
        </p:nvSpPr>
        <p:spPr>
          <a:xfrm>
            <a:off x="80467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01</a:t>
            </a:r>
            <a:endParaRPr lang="en-US" sz="1300" dirty="0"/>
          </a:p>
        </p:txBody>
      </p:sp>
      <p:sp>
        <p:nvSpPr>
          <p:cNvPr id="9" name="Text 6"/>
          <p:cNvSpPr/>
          <p:nvPr/>
        </p:nvSpPr>
        <p:spPr>
          <a:xfrm>
            <a:off x="80467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Use the task template</a:t>
            </a:r>
            <a:endParaRPr lang="en-US" sz="2200" dirty="0"/>
          </a:p>
        </p:txBody>
      </p:sp>
      <p:sp>
        <p:nvSpPr>
          <p:cNvPr id="10" name="Text 7"/>
          <p:cNvSpPr/>
          <p:nvPr/>
        </p:nvSpPr>
        <p:spPr>
          <a:xfrm>
            <a:off x="80467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Offer tasks for DIR, bond requests, job walks, wages, payroll, quotes, addenda and submission checks.</a:t>
            </a:r>
            <a:endParaRPr lang="en-US" sz="1800" dirty="0"/>
          </a:p>
        </p:txBody>
      </p:sp>
      <p:sp>
        <p:nvSpPr>
          <p:cNvPr id="11" name="Shape 8"/>
          <p:cNvSpPr/>
          <p:nvPr/>
        </p:nvSpPr>
        <p:spPr>
          <a:xfrm>
            <a:off x="4343400" y="1856232"/>
            <a:ext cx="3520440" cy="3557016"/>
          </a:xfrm>
          <a:prstGeom prst="rect">
            <a:avLst/>
          </a:prstGeom>
          <a:solidFill>
            <a:srgbClr val="FFFFFF"/>
          </a:solidFill>
          <a:ln w="12700">
            <a:solidFill>
              <a:srgbClr val="FFFFFF">
                <a:alpha val="0"/>
              </a:srgbClr>
            </a:solidFill>
            <a:prstDash val="solid"/>
          </a:ln>
        </p:spPr>
      </p:sp>
      <p:sp>
        <p:nvSpPr>
          <p:cNvPr id="12" name="Shape 9"/>
          <p:cNvSpPr/>
          <p:nvPr/>
        </p:nvSpPr>
        <p:spPr>
          <a:xfrm>
            <a:off x="4343400" y="1856232"/>
            <a:ext cx="54864" cy="3557016"/>
          </a:xfrm>
          <a:prstGeom prst="rect">
            <a:avLst/>
          </a:prstGeom>
          <a:solidFill>
            <a:srgbClr val="F2B337"/>
          </a:solidFill>
          <a:ln w="12700">
            <a:solidFill>
              <a:srgbClr val="F2B337">
                <a:alpha val="0"/>
              </a:srgbClr>
            </a:solidFill>
            <a:prstDash val="solid"/>
          </a:ln>
        </p:spPr>
      </p:sp>
      <p:sp>
        <p:nvSpPr>
          <p:cNvPr id="13" name="Text 10"/>
          <p:cNvSpPr/>
          <p:nvPr/>
        </p:nvSpPr>
        <p:spPr>
          <a:xfrm>
            <a:off x="455371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02</a:t>
            </a:r>
            <a:endParaRPr lang="en-US" sz="1300" dirty="0"/>
          </a:p>
        </p:txBody>
      </p:sp>
      <p:sp>
        <p:nvSpPr>
          <p:cNvPr id="14" name="Text 11"/>
          <p:cNvSpPr/>
          <p:nvPr/>
        </p:nvSpPr>
        <p:spPr>
          <a:xfrm>
            <a:off x="455371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Make each task actionable</a:t>
            </a:r>
            <a:endParaRPr lang="en-US" sz="2200" dirty="0"/>
          </a:p>
        </p:txBody>
      </p:sp>
      <p:sp>
        <p:nvSpPr>
          <p:cNvPr id="15" name="Text 12"/>
          <p:cNvSpPr/>
          <p:nvPr/>
        </p:nvSpPr>
        <p:spPr>
          <a:xfrm>
            <a:off x="455371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Assign an owner, due date/time zone, priority and notes. Link the relevant requirement.</a:t>
            </a:r>
            <a:endParaRPr lang="en-US" sz="1800" dirty="0"/>
          </a:p>
        </p:txBody>
      </p:sp>
      <p:sp>
        <p:nvSpPr>
          <p:cNvPr id="16" name="Shape 13"/>
          <p:cNvSpPr/>
          <p:nvPr/>
        </p:nvSpPr>
        <p:spPr>
          <a:xfrm>
            <a:off x="8092440" y="1856232"/>
            <a:ext cx="3520440" cy="3557016"/>
          </a:xfrm>
          <a:prstGeom prst="rect">
            <a:avLst/>
          </a:prstGeom>
          <a:solidFill>
            <a:srgbClr val="FFFFFF"/>
          </a:solidFill>
          <a:ln w="12700">
            <a:solidFill>
              <a:srgbClr val="FFFFFF">
                <a:alpha val="0"/>
              </a:srgbClr>
            </a:solidFill>
            <a:prstDash val="solid"/>
          </a:ln>
        </p:spPr>
      </p:sp>
      <p:sp>
        <p:nvSpPr>
          <p:cNvPr id="17" name="Shape 14"/>
          <p:cNvSpPr/>
          <p:nvPr/>
        </p:nvSpPr>
        <p:spPr>
          <a:xfrm>
            <a:off x="8092440" y="1856232"/>
            <a:ext cx="54864" cy="3557016"/>
          </a:xfrm>
          <a:prstGeom prst="rect">
            <a:avLst/>
          </a:prstGeom>
          <a:solidFill>
            <a:srgbClr val="235AF5"/>
          </a:solidFill>
          <a:ln w="12700">
            <a:solidFill>
              <a:srgbClr val="235AF5">
                <a:alpha val="0"/>
              </a:srgbClr>
            </a:solidFill>
            <a:prstDash val="solid"/>
          </a:ln>
        </p:spPr>
      </p:sp>
      <p:sp>
        <p:nvSpPr>
          <p:cNvPr id="18" name="Text 15"/>
          <p:cNvSpPr/>
          <p:nvPr/>
        </p:nvSpPr>
        <p:spPr>
          <a:xfrm>
            <a:off x="830275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03</a:t>
            </a:r>
            <a:endParaRPr lang="en-US" sz="1300" dirty="0"/>
          </a:p>
        </p:txBody>
      </p:sp>
      <p:sp>
        <p:nvSpPr>
          <p:cNvPr id="19" name="Text 16"/>
          <p:cNvSpPr/>
          <p:nvPr/>
        </p:nvSpPr>
        <p:spPr>
          <a:xfrm>
            <a:off x="830275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Update the work</a:t>
            </a:r>
            <a:endParaRPr lang="en-US" sz="2200" dirty="0"/>
          </a:p>
        </p:txBody>
      </p:sp>
      <p:sp>
        <p:nvSpPr>
          <p:cNvPr id="20" name="Text 17"/>
          <p:cNvSpPr/>
          <p:nvPr/>
        </p:nvSpPr>
        <p:spPr>
          <a:xfrm>
            <a:off x="830275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Move tasks through todo, in progress and complete. Resolve blockers with documented human review.</a:t>
            </a:r>
            <a:endParaRPr lang="en-US" sz="1800" dirty="0"/>
          </a:p>
        </p:txBody>
      </p:sp>
      <p:sp>
        <p:nvSpPr>
          <p:cNvPr id="21" name="Shape 18"/>
          <p:cNvSpPr/>
          <p:nvPr/>
        </p:nvSpPr>
        <p:spPr>
          <a:xfrm>
            <a:off x="594360" y="5650992"/>
            <a:ext cx="11018520" cy="576072"/>
          </a:xfrm>
          <a:prstGeom prst="rect">
            <a:avLst/>
          </a:prstGeom>
          <a:solidFill>
            <a:srgbClr val="0D1933"/>
          </a:solidFill>
          <a:ln w="12700">
            <a:solidFill>
              <a:srgbClr val="0D1933">
                <a:alpha val="0"/>
              </a:srgbClr>
            </a:solidFill>
            <a:prstDash val="solid"/>
          </a:ln>
        </p:spPr>
      </p:sp>
      <p:sp>
        <p:nvSpPr>
          <p:cNvPr id="22" name="Text 19"/>
          <p:cNvSpPr/>
          <p:nvPr/>
        </p:nvSpPr>
        <p:spPr>
          <a:xfrm>
            <a:off x="777240" y="5779008"/>
            <a:ext cx="10607040" cy="374904"/>
          </a:xfrm>
          <a:prstGeom prst="rect">
            <a:avLst/>
          </a:prstGeom>
          <a:noFill/>
          <a:ln/>
        </p:spPr>
        <p:txBody>
          <a:bodyPr wrap="square" lIns="0" tIns="0" rIns="0" bIns="0" rtlCol="0" anchor="t"/>
          <a:lstStyle/>
          <a:p>
            <a:pPr indent="0" marL="0">
              <a:buNone/>
            </a:pPr>
            <a:r>
              <a:rPr lang="en-US" sz="1400" dirty="0">
                <a:solidFill>
                  <a:srgbClr val="FFFFFF"/>
                </a:solidFill>
                <a:latin typeface="Aptos" pitchFamily="34" charset="0"/>
                <a:ea typeface="Aptos" pitchFamily="34" charset="-122"/>
                <a:cs typeface="Aptos" pitchFamily="34" charset="-120"/>
              </a:rPr>
              <a:t>A confirmed capability gap can become an “Identify a teaming partner for…” task.</a:t>
            </a:r>
            <a:endParaRPr lang="en-US" sz="1400" dirty="0"/>
          </a:p>
        </p:txBody>
      </p:sp>
      <p:sp>
        <p:nvSpPr>
          <p:cNvPr id="23" name="Text 2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24" name="Text 2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11 / ASSISTANT</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Use the assistant in the right mode</a:t>
            </a:r>
            <a:endParaRPr lang="en-US" sz="3000" dirty="0"/>
          </a:p>
        </p:txBody>
      </p:sp>
      <p:sp>
        <p:nvSpPr>
          <p:cNvPr id="6" name="Shape 3"/>
          <p:cNvSpPr/>
          <p:nvPr/>
        </p:nvSpPr>
        <p:spPr>
          <a:xfrm>
            <a:off x="594360" y="1856232"/>
            <a:ext cx="3520440" cy="3557016"/>
          </a:xfrm>
          <a:prstGeom prst="rect">
            <a:avLst/>
          </a:prstGeom>
          <a:solidFill>
            <a:srgbClr val="FFFFFF"/>
          </a:solidFill>
          <a:ln w="12700">
            <a:solidFill>
              <a:srgbClr val="FFFFFF">
                <a:alpha val="0"/>
              </a:srgbClr>
            </a:solidFill>
            <a:prstDash val="solid"/>
          </a:ln>
        </p:spPr>
      </p:sp>
      <p:sp>
        <p:nvSpPr>
          <p:cNvPr id="7" name="Shape 4"/>
          <p:cNvSpPr/>
          <p:nvPr/>
        </p:nvSpPr>
        <p:spPr>
          <a:xfrm>
            <a:off x="594360" y="1856232"/>
            <a:ext cx="54864" cy="3557016"/>
          </a:xfrm>
          <a:prstGeom prst="rect">
            <a:avLst/>
          </a:prstGeom>
          <a:solidFill>
            <a:srgbClr val="235AF5"/>
          </a:solidFill>
          <a:ln w="12700">
            <a:solidFill>
              <a:srgbClr val="235AF5">
                <a:alpha val="0"/>
              </a:srgbClr>
            </a:solidFill>
            <a:prstDash val="solid"/>
          </a:ln>
        </p:spPr>
      </p:sp>
      <p:sp>
        <p:nvSpPr>
          <p:cNvPr id="8" name="Text 5"/>
          <p:cNvSpPr/>
          <p:nvPr/>
        </p:nvSpPr>
        <p:spPr>
          <a:xfrm>
            <a:off x="80467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01</a:t>
            </a:r>
            <a:endParaRPr lang="en-US" sz="1300" dirty="0"/>
          </a:p>
        </p:txBody>
      </p:sp>
      <p:sp>
        <p:nvSpPr>
          <p:cNvPr id="9" name="Text 6"/>
          <p:cNvSpPr/>
          <p:nvPr/>
        </p:nvSpPr>
        <p:spPr>
          <a:xfrm>
            <a:off x="80467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General questions</a:t>
            </a:r>
            <a:endParaRPr lang="en-US" sz="2200" dirty="0"/>
          </a:p>
        </p:txBody>
      </p:sp>
      <p:sp>
        <p:nvSpPr>
          <p:cNvPr id="10" name="Text 7"/>
          <p:cNvSpPr/>
          <p:nvPr/>
        </p:nvSpPr>
        <p:spPr>
          <a:xfrm>
            <a:off x="80467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Ask “Explain how a bid bond works.” This mode does not read private company records.</a:t>
            </a:r>
            <a:endParaRPr lang="en-US" sz="1800" dirty="0"/>
          </a:p>
        </p:txBody>
      </p:sp>
      <p:sp>
        <p:nvSpPr>
          <p:cNvPr id="11" name="Shape 8"/>
          <p:cNvSpPr/>
          <p:nvPr/>
        </p:nvSpPr>
        <p:spPr>
          <a:xfrm>
            <a:off x="4343400" y="1856232"/>
            <a:ext cx="3520440" cy="3557016"/>
          </a:xfrm>
          <a:prstGeom prst="rect">
            <a:avLst/>
          </a:prstGeom>
          <a:solidFill>
            <a:srgbClr val="FFFFFF"/>
          </a:solidFill>
          <a:ln w="12700">
            <a:solidFill>
              <a:srgbClr val="FFFFFF">
                <a:alpha val="0"/>
              </a:srgbClr>
            </a:solidFill>
            <a:prstDash val="solid"/>
          </a:ln>
        </p:spPr>
      </p:sp>
      <p:sp>
        <p:nvSpPr>
          <p:cNvPr id="12" name="Shape 9"/>
          <p:cNvSpPr/>
          <p:nvPr/>
        </p:nvSpPr>
        <p:spPr>
          <a:xfrm>
            <a:off x="4343400" y="1856232"/>
            <a:ext cx="54864" cy="3557016"/>
          </a:xfrm>
          <a:prstGeom prst="rect">
            <a:avLst/>
          </a:prstGeom>
          <a:solidFill>
            <a:srgbClr val="F2B337"/>
          </a:solidFill>
          <a:ln w="12700">
            <a:solidFill>
              <a:srgbClr val="F2B337">
                <a:alpha val="0"/>
              </a:srgbClr>
            </a:solidFill>
            <a:prstDash val="solid"/>
          </a:ln>
        </p:spPr>
      </p:sp>
      <p:sp>
        <p:nvSpPr>
          <p:cNvPr id="13" name="Text 10"/>
          <p:cNvSpPr/>
          <p:nvPr/>
        </p:nvSpPr>
        <p:spPr>
          <a:xfrm>
            <a:off x="455371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02</a:t>
            </a:r>
            <a:endParaRPr lang="en-US" sz="1300" dirty="0"/>
          </a:p>
        </p:txBody>
      </p:sp>
      <p:sp>
        <p:nvSpPr>
          <p:cNvPr id="14" name="Text 11"/>
          <p:cNvSpPr/>
          <p:nvPr/>
        </p:nvSpPr>
        <p:spPr>
          <a:xfrm>
            <a:off x="455371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Workspace records</a:t>
            </a:r>
            <a:endParaRPr lang="en-US" sz="2200" dirty="0"/>
          </a:p>
        </p:txBody>
      </p:sp>
      <p:sp>
        <p:nvSpPr>
          <p:cNvPr id="15" name="Text 12"/>
          <p:cNvSpPr/>
          <p:nvPr/>
        </p:nvSpPr>
        <p:spPr>
          <a:xfrm>
            <a:off x="455371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Select the company context. Ask “Summarize this pursuit” or “What tasks are overdue?” Review its sources.</a:t>
            </a:r>
            <a:endParaRPr lang="en-US" sz="1800" dirty="0"/>
          </a:p>
        </p:txBody>
      </p:sp>
      <p:sp>
        <p:nvSpPr>
          <p:cNvPr id="16" name="Shape 13"/>
          <p:cNvSpPr/>
          <p:nvPr/>
        </p:nvSpPr>
        <p:spPr>
          <a:xfrm>
            <a:off x="8092440" y="1856232"/>
            <a:ext cx="3520440" cy="3557016"/>
          </a:xfrm>
          <a:prstGeom prst="rect">
            <a:avLst/>
          </a:prstGeom>
          <a:solidFill>
            <a:srgbClr val="FFFFFF"/>
          </a:solidFill>
          <a:ln w="12700">
            <a:solidFill>
              <a:srgbClr val="FFFFFF">
                <a:alpha val="0"/>
              </a:srgbClr>
            </a:solidFill>
            <a:prstDash val="solid"/>
          </a:ln>
        </p:spPr>
      </p:sp>
      <p:sp>
        <p:nvSpPr>
          <p:cNvPr id="17" name="Shape 14"/>
          <p:cNvSpPr/>
          <p:nvPr/>
        </p:nvSpPr>
        <p:spPr>
          <a:xfrm>
            <a:off x="8092440" y="1856232"/>
            <a:ext cx="54864" cy="3557016"/>
          </a:xfrm>
          <a:prstGeom prst="rect">
            <a:avLst/>
          </a:prstGeom>
          <a:solidFill>
            <a:srgbClr val="235AF5"/>
          </a:solidFill>
          <a:ln w="12700">
            <a:solidFill>
              <a:srgbClr val="235AF5">
                <a:alpha val="0"/>
              </a:srgbClr>
            </a:solidFill>
            <a:prstDash val="solid"/>
          </a:ln>
        </p:spPr>
      </p:sp>
      <p:sp>
        <p:nvSpPr>
          <p:cNvPr id="18" name="Text 15"/>
          <p:cNvSpPr/>
          <p:nvPr/>
        </p:nvSpPr>
        <p:spPr>
          <a:xfrm>
            <a:off x="830275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03</a:t>
            </a:r>
            <a:endParaRPr lang="en-US" sz="1300" dirty="0"/>
          </a:p>
        </p:txBody>
      </p:sp>
      <p:sp>
        <p:nvSpPr>
          <p:cNvPr id="19" name="Text 16"/>
          <p:cNvSpPr/>
          <p:nvPr/>
        </p:nvSpPr>
        <p:spPr>
          <a:xfrm>
            <a:off x="830275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Document command</a:t>
            </a:r>
            <a:endParaRPr lang="en-US" sz="2200" dirty="0"/>
          </a:p>
        </p:txBody>
      </p:sp>
      <p:sp>
        <p:nvSpPr>
          <p:cNvPr id="20" name="Text 17"/>
          <p:cNvSpPr/>
          <p:nvPr/>
        </p:nvSpPr>
        <p:spPr>
          <a:xfrm>
            <a:off x="830275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Open the pursuit and ask: “Create a response outline for this solicitation”. A register must exist.</a:t>
            </a:r>
            <a:endParaRPr lang="en-US" sz="1800" dirty="0"/>
          </a:p>
        </p:txBody>
      </p:sp>
      <p:sp>
        <p:nvSpPr>
          <p:cNvPr id="21" name="Shape 18"/>
          <p:cNvSpPr/>
          <p:nvPr/>
        </p:nvSpPr>
        <p:spPr>
          <a:xfrm>
            <a:off x="594360" y="5650992"/>
            <a:ext cx="11018520" cy="576072"/>
          </a:xfrm>
          <a:prstGeom prst="rect">
            <a:avLst/>
          </a:prstGeom>
          <a:solidFill>
            <a:srgbClr val="0D1933"/>
          </a:solidFill>
          <a:ln w="12700">
            <a:solidFill>
              <a:srgbClr val="0D1933">
                <a:alpha val="0"/>
              </a:srgbClr>
            </a:solidFill>
            <a:prstDash val="solid"/>
          </a:ln>
        </p:spPr>
      </p:sp>
      <p:sp>
        <p:nvSpPr>
          <p:cNvPr id="22" name="Text 19"/>
          <p:cNvSpPr/>
          <p:nvPr/>
        </p:nvSpPr>
        <p:spPr>
          <a:xfrm>
            <a:off x="777240" y="5779008"/>
            <a:ext cx="10607040" cy="374904"/>
          </a:xfrm>
          <a:prstGeom prst="rect">
            <a:avLst/>
          </a:prstGeom>
          <a:noFill/>
          <a:ln/>
        </p:spPr>
        <p:txBody>
          <a:bodyPr wrap="square" lIns="0" tIns="0" rIns="0" bIns="0" rtlCol="0" anchor="t"/>
          <a:lstStyle/>
          <a:p>
            <a:pPr indent="0" marL="0">
              <a:buNone/>
            </a:pPr>
            <a:r>
              <a:rPr lang="en-US" sz="1400" dirty="0">
                <a:solidFill>
                  <a:srgbClr val="FFFFFF"/>
                </a:solidFill>
                <a:latin typeface="Aptos" pitchFamily="34" charset="0"/>
                <a:ea typeface="Aptos" pitchFamily="34" charset="-122"/>
                <a:cs typeface="Aptos" pitchFamily="34" charset="-120"/>
              </a:rPr>
              <a:t>The assistant can organize and explain. It cannot approve, price, sign, certify or submit.</a:t>
            </a:r>
            <a:endParaRPr lang="en-US" sz="1400" dirty="0"/>
          </a:p>
        </p:txBody>
      </p:sp>
      <p:sp>
        <p:nvSpPr>
          <p:cNvPr id="23" name="Text 2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24" name="Text 2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12 / DRAFT</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Create the response outline</a:t>
            </a:r>
            <a:endParaRPr lang="en-US" sz="3000" dirty="0"/>
          </a:p>
        </p:txBody>
      </p:sp>
      <p:sp>
        <p:nvSpPr>
          <p:cNvPr id="6" name="Shape 3"/>
          <p:cNvSpPr/>
          <p:nvPr/>
        </p:nvSpPr>
        <p:spPr>
          <a:xfrm>
            <a:off x="594360" y="1856232"/>
            <a:ext cx="3520440" cy="3557016"/>
          </a:xfrm>
          <a:prstGeom prst="rect">
            <a:avLst/>
          </a:prstGeom>
          <a:solidFill>
            <a:srgbClr val="FFFFFF"/>
          </a:solidFill>
          <a:ln w="12700">
            <a:solidFill>
              <a:srgbClr val="FFFFFF">
                <a:alpha val="0"/>
              </a:srgbClr>
            </a:solidFill>
            <a:prstDash val="solid"/>
          </a:ln>
        </p:spPr>
      </p:sp>
      <p:sp>
        <p:nvSpPr>
          <p:cNvPr id="7" name="Shape 4"/>
          <p:cNvSpPr/>
          <p:nvPr/>
        </p:nvSpPr>
        <p:spPr>
          <a:xfrm>
            <a:off x="594360" y="1856232"/>
            <a:ext cx="54864" cy="3557016"/>
          </a:xfrm>
          <a:prstGeom prst="rect">
            <a:avLst/>
          </a:prstGeom>
          <a:solidFill>
            <a:srgbClr val="235AF5"/>
          </a:solidFill>
          <a:ln w="12700">
            <a:solidFill>
              <a:srgbClr val="235AF5">
                <a:alpha val="0"/>
              </a:srgbClr>
            </a:solidFill>
            <a:prstDash val="solid"/>
          </a:ln>
        </p:spPr>
      </p:sp>
      <p:sp>
        <p:nvSpPr>
          <p:cNvPr id="8" name="Text 5"/>
          <p:cNvSpPr/>
          <p:nvPr/>
        </p:nvSpPr>
        <p:spPr>
          <a:xfrm>
            <a:off x="80467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01</a:t>
            </a:r>
            <a:endParaRPr lang="en-US" sz="1300" dirty="0"/>
          </a:p>
        </p:txBody>
      </p:sp>
      <p:sp>
        <p:nvSpPr>
          <p:cNvPr id="9" name="Text 6"/>
          <p:cNvSpPr/>
          <p:nvPr/>
        </p:nvSpPr>
        <p:spPr>
          <a:xfrm>
            <a:off x="80467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Create or open the draft</a:t>
            </a:r>
            <a:endParaRPr lang="en-US" sz="2200" dirty="0"/>
          </a:p>
        </p:txBody>
      </p:sp>
      <p:sp>
        <p:nvSpPr>
          <p:cNvPr id="10" name="Text 7"/>
          <p:cNvSpPr/>
          <p:nvPr/>
        </p:nvSpPr>
        <p:spPr>
          <a:xfrm>
            <a:off x="80467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In Response packages, choose Create response draft—or open the assistant-created response.</a:t>
            </a:r>
            <a:endParaRPr lang="en-US" sz="1800" dirty="0"/>
          </a:p>
        </p:txBody>
      </p:sp>
      <p:sp>
        <p:nvSpPr>
          <p:cNvPr id="11" name="Shape 8"/>
          <p:cNvSpPr/>
          <p:nvPr/>
        </p:nvSpPr>
        <p:spPr>
          <a:xfrm>
            <a:off x="4343400" y="1856232"/>
            <a:ext cx="3520440" cy="3557016"/>
          </a:xfrm>
          <a:prstGeom prst="rect">
            <a:avLst/>
          </a:prstGeom>
          <a:solidFill>
            <a:srgbClr val="FFFFFF"/>
          </a:solidFill>
          <a:ln w="12700">
            <a:solidFill>
              <a:srgbClr val="FFFFFF">
                <a:alpha val="0"/>
              </a:srgbClr>
            </a:solidFill>
            <a:prstDash val="solid"/>
          </a:ln>
        </p:spPr>
      </p:sp>
      <p:sp>
        <p:nvSpPr>
          <p:cNvPr id="12" name="Shape 9"/>
          <p:cNvSpPr/>
          <p:nvPr/>
        </p:nvSpPr>
        <p:spPr>
          <a:xfrm>
            <a:off x="4343400" y="1856232"/>
            <a:ext cx="54864" cy="3557016"/>
          </a:xfrm>
          <a:prstGeom prst="rect">
            <a:avLst/>
          </a:prstGeom>
          <a:solidFill>
            <a:srgbClr val="F2B337"/>
          </a:solidFill>
          <a:ln w="12700">
            <a:solidFill>
              <a:srgbClr val="F2B337">
                <a:alpha val="0"/>
              </a:srgbClr>
            </a:solidFill>
            <a:prstDash val="solid"/>
          </a:ln>
        </p:spPr>
      </p:sp>
      <p:sp>
        <p:nvSpPr>
          <p:cNvPr id="13" name="Text 10"/>
          <p:cNvSpPr/>
          <p:nvPr/>
        </p:nvSpPr>
        <p:spPr>
          <a:xfrm>
            <a:off x="455371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02</a:t>
            </a:r>
            <a:endParaRPr lang="en-US" sz="1300" dirty="0"/>
          </a:p>
        </p:txBody>
      </p:sp>
      <p:sp>
        <p:nvSpPr>
          <p:cNvPr id="14" name="Text 11"/>
          <p:cNvSpPr/>
          <p:nvPr/>
        </p:nvSpPr>
        <p:spPr>
          <a:xfrm>
            <a:off x="455371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Check the autofill preview</a:t>
            </a:r>
            <a:endParaRPr lang="en-US" sz="2200" dirty="0"/>
          </a:p>
        </p:txBody>
      </p:sp>
      <p:sp>
        <p:nvSpPr>
          <p:cNvPr id="15" name="Text 12"/>
          <p:cNvSpPr/>
          <p:nvPr/>
        </p:nvSpPr>
        <p:spPr>
          <a:xfrm>
            <a:off x="455371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Inspect company and bid information. Current attested records may fill allowed fields; gaps stay visible.</a:t>
            </a:r>
            <a:endParaRPr lang="en-US" sz="1800" dirty="0"/>
          </a:p>
        </p:txBody>
      </p:sp>
      <p:sp>
        <p:nvSpPr>
          <p:cNvPr id="16" name="Shape 13"/>
          <p:cNvSpPr/>
          <p:nvPr/>
        </p:nvSpPr>
        <p:spPr>
          <a:xfrm>
            <a:off x="8092440" y="1856232"/>
            <a:ext cx="3520440" cy="3557016"/>
          </a:xfrm>
          <a:prstGeom prst="rect">
            <a:avLst/>
          </a:prstGeom>
          <a:solidFill>
            <a:srgbClr val="FFFFFF"/>
          </a:solidFill>
          <a:ln w="12700">
            <a:solidFill>
              <a:srgbClr val="FFFFFF">
                <a:alpha val="0"/>
              </a:srgbClr>
            </a:solidFill>
            <a:prstDash val="solid"/>
          </a:ln>
        </p:spPr>
      </p:sp>
      <p:sp>
        <p:nvSpPr>
          <p:cNvPr id="17" name="Shape 14"/>
          <p:cNvSpPr/>
          <p:nvPr/>
        </p:nvSpPr>
        <p:spPr>
          <a:xfrm>
            <a:off x="8092440" y="1856232"/>
            <a:ext cx="54864" cy="3557016"/>
          </a:xfrm>
          <a:prstGeom prst="rect">
            <a:avLst/>
          </a:prstGeom>
          <a:solidFill>
            <a:srgbClr val="235AF5"/>
          </a:solidFill>
          <a:ln w="12700">
            <a:solidFill>
              <a:srgbClr val="235AF5">
                <a:alpha val="0"/>
              </a:srgbClr>
            </a:solidFill>
            <a:prstDash val="solid"/>
          </a:ln>
        </p:spPr>
      </p:sp>
      <p:sp>
        <p:nvSpPr>
          <p:cNvPr id="18" name="Text 15"/>
          <p:cNvSpPr/>
          <p:nvPr/>
        </p:nvSpPr>
        <p:spPr>
          <a:xfrm>
            <a:off x="830275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03</a:t>
            </a:r>
            <a:endParaRPr lang="en-US" sz="1300" dirty="0"/>
          </a:p>
        </p:txBody>
      </p:sp>
      <p:sp>
        <p:nvSpPr>
          <p:cNvPr id="19" name="Text 16"/>
          <p:cNvSpPr/>
          <p:nvPr/>
        </p:nvSpPr>
        <p:spPr>
          <a:xfrm>
            <a:off x="830275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Write the actual response</a:t>
            </a:r>
            <a:endParaRPr lang="en-US" sz="2200" dirty="0"/>
          </a:p>
        </p:txBody>
      </p:sp>
      <p:sp>
        <p:nvSpPr>
          <p:cNvPr id="20" name="Text 17"/>
          <p:cNvSpPr/>
          <p:nvPr/>
        </p:nvSpPr>
        <p:spPr>
          <a:xfrm>
            <a:off x="830275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Complete the overview and each requirement answer. Human input is required for pricing and technical content.</a:t>
            </a:r>
            <a:endParaRPr lang="en-US" sz="1800" dirty="0"/>
          </a:p>
        </p:txBody>
      </p:sp>
      <p:sp>
        <p:nvSpPr>
          <p:cNvPr id="21" name="Shape 18"/>
          <p:cNvSpPr/>
          <p:nvPr/>
        </p:nvSpPr>
        <p:spPr>
          <a:xfrm>
            <a:off x="594360" y="5650992"/>
            <a:ext cx="11018520" cy="576072"/>
          </a:xfrm>
          <a:prstGeom prst="rect">
            <a:avLst/>
          </a:prstGeom>
          <a:solidFill>
            <a:srgbClr val="0D1933"/>
          </a:solidFill>
          <a:ln w="12700">
            <a:solidFill>
              <a:srgbClr val="0D1933">
                <a:alpha val="0"/>
              </a:srgbClr>
            </a:solidFill>
            <a:prstDash val="solid"/>
          </a:ln>
        </p:spPr>
      </p:sp>
      <p:sp>
        <p:nvSpPr>
          <p:cNvPr id="22" name="Text 19"/>
          <p:cNvSpPr/>
          <p:nvPr/>
        </p:nvSpPr>
        <p:spPr>
          <a:xfrm>
            <a:off x="777240" y="5779008"/>
            <a:ext cx="10607040" cy="374904"/>
          </a:xfrm>
          <a:prstGeom prst="rect">
            <a:avLst/>
          </a:prstGeom>
          <a:noFill/>
          <a:ln/>
        </p:spPr>
        <p:txBody>
          <a:bodyPr wrap="square" lIns="0" tIns="0" rIns="0" bIns="0" rtlCol="0" anchor="t"/>
          <a:lstStyle/>
          <a:p>
            <a:pPr indent="0" marL="0">
              <a:buNone/>
            </a:pPr>
            <a:r>
              <a:rPr lang="en-US" sz="1400" dirty="0">
                <a:solidFill>
                  <a:srgbClr val="FFFFFF"/>
                </a:solidFill>
                <a:latin typeface="Aptos" pitchFamily="34" charset="0"/>
                <a:ea typeface="Aptos" pitchFamily="34" charset="-122"/>
                <a:cs typeface="Aptos" pitchFamily="34" charset="-120"/>
              </a:rPr>
              <a:t>Missing, stale or restricted evidence must not become an invented statement.</a:t>
            </a:r>
            <a:endParaRPr lang="en-US" sz="1400" dirty="0"/>
          </a:p>
        </p:txBody>
      </p:sp>
      <p:sp>
        <p:nvSpPr>
          <p:cNvPr id="23" name="Text 2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24" name="Text 2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12 / PDF AND WORD</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Review and export the saved draft</a:t>
            </a:r>
            <a:endParaRPr lang="en-US" sz="3000" dirty="0"/>
          </a:p>
        </p:txBody>
      </p:sp>
      <p:sp>
        <p:nvSpPr>
          <p:cNvPr id="6" name="Shape 3"/>
          <p:cNvSpPr/>
          <p:nvPr/>
        </p:nvSpPr>
        <p:spPr>
          <a:xfrm>
            <a:off x="594360" y="1856232"/>
            <a:ext cx="3520440" cy="3557016"/>
          </a:xfrm>
          <a:prstGeom prst="rect">
            <a:avLst/>
          </a:prstGeom>
          <a:solidFill>
            <a:srgbClr val="FFFFFF"/>
          </a:solidFill>
          <a:ln w="12700">
            <a:solidFill>
              <a:srgbClr val="FFFFFF">
                <a:alpha val="0"/>
              </a:srgbClr>
            </a:solidFill>
            <a:prstDash val="solid"/>
          </a:ln>
        </p:spPr>
      </p:sp>
      <p:sp>
        <p:nvSpPr>
          <p:cNvPr id="7" name="Shape 4"/>
          <p:cNvSpPr/>
          <p:nvPr/>
        </p:nvSpPr>
        <p:spPr>
          <a:xfrm>
            <a:off x="594360" y="1856232"/>
            <a:ext cx="54864" cy="3557016"/>
          </a:xfrm>
          <a:prstGeom prst="rect">
            <a:avLst/>
          </a:prstGeom>
          <a:solidFill>
            <a:srgbClr val="235AF5"/>
          </a:solidFill>
          <a:ln w="12700">
            <a:solidFill>
              <a:srgbClr val="235AF5">
                <a:alpha val="0"/>
              </a:srgbClr>
            </a:solidFill>
            <a:prstDash val="solid"/>
          </a:ln>
        </p:spPr>
      </p:sp>
      <p:sp>
        <p:nvSpPr>
          <p:cNvPr id="8" name="Text 5"/>
          <p:cNvSpPr/>
          <p:nvPr/>
        </p:nvSpPr>
        <p:spPr>
          <a:xfrm>
            <a:off x="80467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01</a:t>
            </a:r>
            <a:endParaRPr lang="en-US" sz="1300" dirty="0"/>
          </a:p>
        </p:txBody>
      </p:sp>
      <p:sp>
        <p:nvSpPr>
          <p:cNvPr id="9" name="Text 6"/>
          <p:cNvSpPr/>
          <p:nvPr/>
        </p:nvSpPr>
        <p:spPr>
          <a:xfrm>
            <a:off x="80467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Save the latest edits</a:t>
            </a:r>
            <a:endParaRPr lang="en-US" sz="2200" dirty="0"/>
          </a:p>
        </p:txBody>
      </p:sp>
      <p:sp>
        <p:nvSpPr>
          <p:cNvPr id="10" name="Text 7"/>
          <p:cNvSpPr/>
          <p:nvPr/>
        </p:nvSpPr>
        <p:spPr>
          <a:xfrm>
            <a:off x="80467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Complete the overview and requirement answers. Remove every unfinished human-input marker.</a:t>
            </a:r>
            <a:endParaRPr lang="en-US" sz="1800" dirty="0"/>
          </a:p>
        </p:txBody>
      </p:sp>
      <p:sp>
        <p:nvSpPr>
          <p:cNvPr id="11" name="Shape 8"/>
          <p:cNvSpPr/>
          <p:nvPr/>
        </p:nvSpPr>
        <p:spPr>
          <a:xfrm>
            <a:off x="4343400" y="1856232"/>
            <a:ext cx="3520440" cy="3557016"/>
          </a:xfrm>
          <a:prstGeom prst="rect">
            <a:avLst/>
          </a:prstGeom>
          <a:solidFill>
            <a:srgbClr val="FFFFFF"/>
          </a:solidFill>
          <a:ln w="12700">
            <a:solidFill>
              <a:srgbClr val="FFFFFF">
                <a:alpha val="0"/>
              </a:srgbClr>
            </a:solidFill>
            <a:prstDash val="solid"/>
          </a:ln>
        </p:spPr>
      </p:sp>
      <p:sp>
        <p:nvSpPr>
          <p:cNvPr id="12" name="Shape 9"/>
          <p:cNvSpPr/>
          <p:nvPr/>
        </p:nvSpPr>
        <p:spPr>
          <a:xfrm>
            <a:off x="4343400" y="1856232"/>
            <a:ext cx="54864" cy="3557016"/>
          </a:xfrm>
          <a:prstGeom prst="rect">
            <a:avLst/>
          </a:prstGeom>
          <a:solidFill>
            <a:srgbClr val="F2B337"/>
          </a:solidFill>
          <a:ln w="12700">
            <a:solidFill>
              <a:srgbClr val="F2B337">
                <a:alpha val="0"/>
              </a:srgbClr>
            </a:solidFill>
            <a:prstDash val="solid"/>
          </a:ln>
        </p:spPr>
      </p:sp>
      <p:sp>
        <p:nvSpPr>
          <p:cNvPr id="13" name="Text 10"/>
          <p:cNvSpPr/>
          <p:nvPr/>
        </p:nvSpPr>
        <p:spPr>
          <a:xfrm>
            <a:off x="455371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02</a:t>
            </a:r>
            <a:endParaRPr lang="en-US" sz="1300" dirty="0"/>
          </a:p>
        </p:txBody>
      </p:sp>
      <p:sp>
        <p:nvSpPr>
          <p:cNvPr id="14" name="Text 11"/>
          <p:cNvSpPr/>
          <p:nvPr/>
        </p:nvSpPr>
        <p:spPr>
          <a:xfrm>
            <a:off x="455371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Inspect the saved response</a:t>
            </a:r>
            <a:endParaRPr lang="en-US" sz="2200" dirty="0"/>
          </a:p>
        </p:txBody>
      </p:sp>
      <p:sp>
        <p:nvSpPr>
          <p:cNvPr id="15" name="Text 12"/>
          <p:cNvSpPr/>
          <p:nvPr/>
        </p:nvSpPr>
        <p:spPr>
          <a:xfrm>
            <a:off x="455371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Review missing answers, changed requirements and stale source context. Read the document end to end.</a:t>
            </a:r>
            <a:endParaRPr lang="en-US" sz="1800" dirty="0"/>
          </a:p>
        </p:txBody>
      </p:sp>
      <p:sp>
        <p:nvSpPr>
          <p:cNvPr id="16" name="Shape 13"/>
          <p:cNvSpPr/>
          <p:nvPr/>
        </p:nvSpPr>
        <p:spPr>
          <a:xfrm>
            <a:off x="8092440" y="1856232"/>
            <a:ext cx="3520440" cy="3557016"/>
          </a:xfrm>
          <a:prstGeom prst="rect">
            <a:avLst/>
          </a:prstGeom>
          <a:solidFill>
            <a:srgbClr val="FFFFFF"/>
          </a:solidFill>
          <a:ln w="12700">
            <a:solidFill>
              <a:srgbClr val="FFFFFF">
                <a:alpha val="0"/>
              </a:srgbClr>
            </a:solidFill>
            <a:prstDash val="solid"/>
          </a:ln>
        </p:spPr>
      </p:sp>
      <p:sp>
        <p:nvSpPr>
          <p:cNvPr id="17" name="Shape 14"/>
          <p:cNvSpPr/>
          <p:nvPr/>
        </p:nvSpPr>
        <p:spPr>
          <a:xfrm>
            <a:off x="8092440" y="1856232"/>
            <a:ext cx="54864" cy="3557016"/>
          </a:xfrm>
          <a:prstGeom prst="rect">
            <a:avLst/>
          </a:prstGeom>
          <a:solidFill>
            <a:srgbClr val="235AF5"/>
          </a:solidFill>
          <a:ln w="12700">
            <a:solidFill>
              <a:srgbClr val="235AF5">
                <a:alpha val="0"/>
              </a:srgbClr>
            </a:solidFill>
            <a:prstDash val="solid"/>
          </a:ln>
        </p:spPr>
      </p:sp>
      <p:sp>
        <p:nvSpPr>
          <p:cNvPr id="18" name="Text 15"/>
          <p:cNvSpPr/>
          <p:nvPr/>
        </p:nvSpPr>
        <p:spPr>
          <a:xfrm>
            <a:off x="830275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03</a:t>
            </a:r>
            <a:endParaRPr lang="en-US" sz="1300" dirty="0"/>
          </a:p>
        </p:txBody>
      </p:sp>
      <p:sp>
        <p:nvSpPr>
          <p:cNvPr id="19" name="Text 16"/>
          <p:cNvSpPr/>
          <p:nvPr/>
        </p:nvSpPr>
        <p:spPr>
          <a:xfrm>
            <a:off x="830275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Download a review copy</a:t>
            </a:r>
            <a:endParaRPr lang="en-US" sz="2200" dirty="0"/>
          </a:p>
        </p:txBody>
      </p:sp>
      <p:sp>
        <p:nvSpPr>
          <p:cNvPr id="20" name="Text 17"/>
          <p:cNvSpPr/>
          <p:nvPr/>
        </p:nvSpPr>
        <p:spPr>
          <a:xfrm>
            <a:off x="830275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Choose Download saved draft PDF or Download saved draft Word from the saved response card.</a:t>
            </a:r>
            <a:endParaRPr lang="en-US" sz="1800" dirty="0"/>
          </a:p>
        </p:txBody>
      </p:sp>
      <p:sp>
        <p:nvSpPr>
          <p:cNvPr id="21" name="Shape 18"/>
          <p:cNvSpPr/>
          <p:nvPr/>
        </p:nvSpPr>
        <p:spPr>
          <a:xfrm>
            <a:off x="594360" y="5650992"/>
            <a:ext cx="11018520" cy="576072"/>
          </a:xfrm>
          <a:prstGeom prst="rect">
            <a:avLst/>
          </a:prstGeom>
          <a:solidFill>
            <a:srgbClr val="0D1933"/>
          </a:solidFill>
          <a:ln w="12700">
            <a:solidFill>
              <a:srgbClr val="0D1933">
                <a:alpha val="0"/>
              </a:srgbClr>
            </a:solidFill>
            <a:prstDash val="solid"/>
          </a:ln>
        </p:spPr>
      </p:sp>
      <p:sp>
        <p:nvSpPr>
          <p:cNvPr id="22" name="Text 19"/>
          <p:cNvSpPr/>
          <p:nvPr/>
        </p:nvSpPr>
        <p:spPr>
          <a:xfrm>
            <a:off x="777240" y="5779008"/>
            <a:ext cx="10607040" cy="374904"/>
          </a:xfrm>
          <a:prstGeom prst="rect">
            <a:avLst/>
          </a:prstGeom>
          <a:noFill/>
          <a:ln/>
        </p:spPr>
        <p:txBody>
          <a:bodyPr wrap="square" lIns="0" tIns="0" rIns="0" bIns="0" rtlCol="0" anchor="t"/>
          <a:lstStyle/>
          <a:p>
            <a:pPr indent="0" marL="0">
              <a:buNone/>
            </a:pPr>
            <a:r>
              <a:rPr lang="en-US" sz="1400" dirty="0">
                <a:solidFill>
                  <a:srgbClr val="FFFFFF"/>
                </a:solidFill>
                <a:latin typeface="Aptos" pitchFamily="34" charset="0"/>
                <a:ea typeface="Aptos" pitchFamily="34" charset="-122"/>
                <a:cs typeface="Aptos" pitchFamily="34" charset="-120"/>
              </a:rPr>
              <a:t>A downloaded working draft is not an approved release or proof of submission.</a:t>
            </a:r>
            <a:endParaRPr lang="en-US" sz="1400" dirty="0"/>
          </a:p>
        </p:txBody>
      </p:sp>
      <p:sp>
        <p:nvSpPr>
          <p:cNvPr id="23" name="Text 2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24" name="Text 2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18</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13 / RELEASE REVIEW</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Approve one specific response version</a:t>
            </a:r>
            <a:endParaRPr lang="en-US" sz="3000" dirty="0"/>
          </a:p>
        </p:txBody>
      </p:sp>
      <p:sp>
        <p:nvSpPr>
          <p:cNvPr id="6" name="Shape 3"/>
          <p:cNvSpPr/>
          <p:nvPr/>
        </p:nvSpPr>
        <p:spPr>
          <a:xfrm>
            <a:off x="594360" y="1856232"/>
            <a:ext cx="3520440" cy="3557016"/>
          </a:xfrm>
          <a:prstGeom prst="rect">
            <a:avLst/>
          </a:prstGeom>
          <a:solidFill>
            <a:srgbClr val="FFFFFF"/>
          </a:solidFill>
          <a:ln w="12700">
            <a:solidFill>
              <a:srgbClr val="FFFFFF">
                <a:alpha val="0"/>
              </a:srgbClr>
            </a:solidFill>
            <a:prstDash val="solid"/>
          </a:ln>
        </p:spPr>
      </p:sp>
      <p:sp>
        <p:nvSpPr>
          <p:cNvPr id="7" name="Shape 4"/>
          <p:cNvSpPr/>
          <p:nvPr/>
        </p:nvSpPr>
        <p:spPr>
          <a:xfrm>
            <a:off x="594360" y="1856232"/>
            <a:ext cx="54864" cy="3557016"/>
          </a:xfrm>
          <a:prstGeom prst="rect">
            <a:avLst/>
          </a:prstGeom>
          <a:solidFill>
            <a:srgbClr val="235AF5"/>
          </a:solidFill>
          <a:ln w="12700">
            <a:solidFill>
              <a:srgbClr val="235AF5">
                <a:alpha val="0"/>
              </a:srgbClr>
            </a:solidFill>
            <a:prstDash val="solid"/>
          </a:ln>
        </p:spPr>
      </p:sp>
      <p:sp>
        <p:nvSpPr>
          <p:cNvPr id="8" name="Text 5"/>
          <p:cNvSpPr/>
          <p:nvPr/>
        </p:nvSpPr>
        <p:spPr>
          <a:xfrm>
            <a:off x="80467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01</a:t>
            </a:r>
            <a:endParaRPr lang="en-US" sz="1300" dirty="0"/>
          </a:p>
        </p:txBody>
      </p:sp>
      <p:sp>
        <p:nvSpPr>
          <p:cNvPr id="9" name="Text 6"/>
          <p:cNvSpPr/>
          <p:nvPr/>
        </p:nvSpPr>
        <p:spPr>
          <a:xfrm>
            <a:off x="80467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Complete release checks</a:t>
            </a:r>
            <a:endParaRPr lang="en-US" sz="2200" dirty="0"/>
          </a:p>
        </p:txBody>
      </p:sp>
      <p:sp>
        <p:nvSpPr>
          <p:cNvPr id="10" name="Text 7"/>
          <p:cNvSpPr/>
          <p:nvPr/>
        </p:nvSpPr>
        <p:spPr>
          <a:xfrm>
            <a:off x="80467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Confirm instructions, attachments, deadline, portal and named submitter. Prepare the required final files.</a:t>
            </a:r>
            <a:endParaRPr lang="en-US" sz="1800" dirty="0"/>
          </a:p>
        </p:txBody>
      </p:sp>
      <p:sp>
        <p:nvSpPr>
          <p:cNvPr id="11" name="Shape 8"/>
          <p:cNvSpPr/>
          <p:nvPr/>
        </p:nvSpPr>
        <p:spPr>
          <a:xfrm>
            <a:off x="4343400" y="1856232"/>
            <a:ext cx="3520440" cy="3557016"/>
          </a:xfrm>
          <a:prstGeom prst="rect">
            <a:avLst/>
          </a:prstGeom>
          <a:solidFill>
            <a:srgbClr val="FFFFFF"/>
          </a:solidFill>
          <a:ln w="12700">
            <a:solidFill>
              <a:srgbClr val="FFFFFF">
                <a:alpha val="0"/>
              </a:srgbClr>
            </a:solidFill>
            <a:prstDash val="solid"/>
          </a:ln>
        </p:spPr>
      </p:sp>
      <p:sp>
        <p:nvSpPr>
          <p:cNvPr id="12" name="Shape 9"/>
          <p:cNvSpPr/>
          <p:nvPr/>
        </p:nvSpPr>
        <p:spPr>
          <a:xfrm>
            <a:off x="4343400" y="1856232"/>
            <a:ext cx="54864" cy="3557016"/>
          </a:xfrm>
          <a:prstGeom prst="rect">
            <a:avLst/>
          </a:prstGeom>
          <a:solidFill>
            <a:srgbClr val="F2B337"/>
          </a:solidFill>
          <a:ln w="12700">
            <a:solidFill>
              <a:srgbClr val="F2B337">
                <a:alpha val="0"/>
              </a:srgbClr>
            </a:solidFill>
            <a:prstDash val="solid"/>
          </a:ln>
        </p:spPr>
      </p:sp>
      <p:sp>
        <p:nvSpPr>
          <p:cNvPr id="13" name="Text 10"/>
          <p:cNvSpPr/>
          <p:nvPr/>
        </p:nvSpPr>
        <p:spPr>
          <a:xfrm>
            <a:off x="455371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02</a:t>
            </a:r>
            <a:endParaRPr lang="en-US" sz="1300" dirty="0"/>
          </a:p>
        </p:txBody>
      </p:sp>
      <p:sp>
        <p:nvSpPr>
          <p:cNvPr id="14" name="Text 11"/>
          <p:cNvSpPr/>
          <p:nvPr/>
        </p:nvSpPr>
        <p:spPr>
          <a:xfrm>
            <a:off x="455371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Freeze the reviewed version</a:t>
            </a:r>
            <a:endParaRPr lang="en-US" sz="2200" dirty="0"/>
          </a:p>
        </p:txBody>
      </p:sp>
      <p:sp>
        <p:nvSpPr>
          <p:cNvPr id="15" name="Text 12"/>
          <p:cNvSpPr/>
          <p:nvPr/>
        </p:nvSpPr>
        <p:spPr>
          <a:xfrm>
            <a:off x="455371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Use the versioned release workflow and final-file manifest. Keep final files in approved storage.</a:t>
            </a:r>
            <a:endParaRPr lang="en-US" sz="1800" dirty="0"/>
          </a:p>
        </p:txBody>
      </p:sp>
      <p:sp>
        <p:nvSpPr>
          <p:cNvPr id="16" name="Shape 13"/>
          <p:cNvSpPr/>
          <p:nvPr/>
        </p:nvSpPr>
        <p:spPr>
          <a:xfrm>
            <a:off x="8092440" y="1856232"/>
            <a:ext cx="3520440" cy="3557016"/>
          </a:xfrm>
          <a:prstGeom prst="rect">
            <a:avLst/>
          </a:prstGeom>
          <a:solidFill>
            <a:srgbClr val="FFFFFF"/>
          </a:solidFill>
          <a:ln w="12700">
            <a:solidFill>
              <a:srgbClr val="FFFFFF">
                <a:alpha val="0"/>
              </a:srgbClr>
            </a:solidFill>
            <a:prstDash val="solid"/>
          </a:ln>
        </p:spPr>
      </p:sp>
      <p:sp>
        <p:nvSpPr>
          <p:cNvPr id="17" name="Shape 14"/>
          <p:cNvSpPr/>
          <p:nvPr/>
        </p:nvSpPr>
        <p:spPr>
          <a:xfrm>
            <a:off x="8092440" y="1856232"/>
            <a:ext cx="54864" cy="3557016"/>
          </a:xfrm>
          <a:prstGeom prst="rect">
            <a:avLst/>
          </a:prstGeom>
          <a:solidFill>
            <a:srgbClr val="235AF5"/>
          </a:solidFill>
          <a:ln w="12700">
            <a:solidFill>
              <a:srgbClr val="235AF5">
                <a:alpha val="0"/>
              </a:srgbClr>
            </a:solidFill>
            <a:prstDash val="solid"/>
          </a:ln>
        </p:spPr>
      </p:sp>
      <p:sp>
        <p:nvSpPr>
          <p:cNvPr id="18" name="Text 15"/>
          <p:cNvSpPr/>
          <p:nvPr/>
        </p:nvSpPr>
        <p:spPr>
          <a:xfrm>
            <a:off x="830275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03</a:t>
            </a:r>
            <a:endParaRPr lang="en-US" sz="1300" dirty="0"/>
          </a:p>
        </p:txBody>
      </p:sp>
      <p:sp>
        <p:nvSpPr>
          <p:cNvPr id="19" name="Text 16"/>
          <p:cNvSpPr/>
          <p:nvPr/>
        </p:nvSpPr>
        <p:spPr>
          <a:xfrm>
            <a:off x="830275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Record the required approvals</a:t>
            </a:r>
            <a:endParaRPr lang="en-US" sz="2200" dirty="0"/>
          </a:p>
        </p:txBody>
      </p:sp>
      <p:sp>
        <p:nvSpPr>
          <p:cNvPr id="20" name="Text 17"/>
          <p:cNvSpPr/>
          <p:nvPr/>
        </p:nvSpPr>
        <p:spPr>
          <a:xfrm>
            <a:off x="830275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Authorized reviewers complete the available gates in order. Recheck if the draft or context changes.</a:t>
            </a:r>
            <a:endParaRPr lang="en-US" sz="1800" dirty="0"/>
          </a:p>
        </p:txBody>
      </p:sp>
      <p:sp>
        <p:nvSpPr>
          <p:cNvPr id="21" name="Shape 18"/>
          <p:cNvSpPr/>
          <p:nvPr/>
        </p:nvSpPr>
        <p:spPr>
          <a:xfrm>
            <a:off x="594360" y="5650992"/>
            <a:ext cx="11018520" cy="576072"/>
          </a:xfrm>
          <a:prstGeom prst="rect">
            <a:avLst/>
          </a:prstGeom>
          <a:solidFill>
            <a:srgbClr val="0D1933"/>
          </a:solidFill>
          <a:ln w="12700">
            <a:solidFill>
              <a:srgbClr val="0D1933">
                <a:alpha val="0"/>
              </a:srgbClr>
            </a:solidFill>
            <a:prstDash val="solid"/>
          </a:ln>
        </p:spPr>
      </p:sp>
      <p:sp>
        <p:nvSpPr>
          <p:cNvPr id="22" name="Text 19"/>
          <p:cNvSpPr/>
          <p:nvPr/>
        </p:nvSpPr>
        <p:spPr>
          <a:xfrm>
            <a:off x="777240" y="5779008"/>
            <a:ext cx="10607040" cy="374904"/>
          </a:xfrm>
          <a:prstGeom prst="rect">
            <a:avLst/>
          </a:prstGeom>
          <a:noFill/>
          <a:ln/>
        </p:spPr>
        <p:txBody>
          <a:bodyPr wrap="square" lIns="0" tIns="0" rIns="0" bIns="0" rtlCol="0" anchor="t"/>
          <a:lstStyle/>
          <a:p>
            <a:pPr indent="0" marL="0">
              <a:buNone/>
            </a:pPr>
            <a:r>
              <a:rPr lang="en-US" sz="1400" dirty="0">
                <a:solidFill>
                  <a:srgbClr val="FFFFFF"/>
                </a:solidFill>
                <a:latin typeface="Aptos" pitchFamily="34" charset="0"/>
                <a:ea typeface="Aptos" pitchFamily="34" charset="-122"/>
                <a:cs typeface="Aptos" pitchFamily="34" charset="-120"/>
              </a:rPr>
              <a:t>Approvals belong to the exact version. Editing requires a new version and renewed review.</a:t>
            </a:r>
            <a:endParaRPr lang="en-US" sz="1400" dirty="0"/>
          </a:p>
        </p:txBody>
      </p:sp>
      <p:sp>
        <p:nvSpPr>
          <p:cNvPr id="23" name="Text 2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24" name="Text 2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14 / SUBMISSION RECORD</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Submit externally, then record the receipt</a:t>
            </a:r>
            <a:endParaRPr lang="en-US" sz="3000" dirty="0"/>
          </a:p>
        </p:txBody>
      </p:sp>
      <p:sp>
        <p:nvSpPr>
          <p:cNvPr id="6" name="Shape 3"/>
          <p:cNvSpPr/>
          <p:nvPr/>
        </p:nvSpPr>
        <p:spPr>
          <a:xfrm>
            <a:off x="594360" y="1856232"/>
            <a:ext cx="3520440" cy="3557016"/>
          </a:xfrm>
          <a:prstGeom prst="rect">
            <a:avLst/>
          </a:prstGeom>
          <a:solidFill>
            <a:srgbClr val="FFFFFF"/>
          </a:solidFill>
          <a:ln w="12700">
            <a:solidFill>
              <a:srgbClr val="FFFFFF">
                <a:alpha val="0"/>
              </a:srgbClr>
            </a:solidFill>
            <a:prstDash val="solid"/>
          </a:ln>
        </p:spPr>
      </p:sp>
      <p:sp>
        <p:nvSpPr>
          <p:cNvPr id="7" name="Shape 4"/>
          <p:cNvSpPr/>
          <p:nvPr/>
        </p:nvSpPr>
        <p:spPr>
          <a:xfrm>
            <a:off x="594360" y="1856232"/>
            <a:ext cx="54864" cy="3557016"/>
          </a:xfrm>
          <a:prstGeom prst="rect">
            <a:avLst/>
          </a:prstGeom>
          <a:solidFill>
            <a:srgbClr val="235AF5"/>
          </a:solidFill>
          <a:ln w="12700">
            <a:solidFill>
              <a:srgbClr val="235AF5">
                <a:alpha val="0"/>
              </a:srgbClr>
            </a:solidFill>
            <a:prstDash val="solid"/>
          </a:ln>
        </p:spPr>
      </p:sp>
      <p:sp>
        <p:nvSpPr>
          <p:cNvPr id="8" name="Text 5"/>
          <p:cNvSpPr/>
          <p:nvPr/>
        </p:nvSpPr>
        <p:spPr>
          <a:xfrm>
            <a:off x="80467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01</a:t>
            </a:r>
            <a:endParaRPr lang="en-US" sz="1300" dirty="0"/>
          </a:p>
        </p:txBody>
      </p:sp>
      <p:sp>
        <p:nvSpPr>
          <p:cNvPr id="9" name="Text 6"/>
          <p:cNvSpPr/>
          <p:nvPr/>
        </p:nvSpPr>
        <p:spPr>
          <a:xfrm>
            <a:off x="80467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Use the official destination</a:t>
            </a:r>
            <a:endParaRPr lang="en-US" sz="2200" dirty="0"/>
          </a:p>
        </p:txBody>
      </p:sp>
      <p:sp>
        <p:nvSpPr>
          <p:cNvPr id="10" name="Text 7"/>
          <p:cNvSpPr/>
          <p:nvPr/>
        </p:nvSpPr>
        <p:spPr>
          <a:xfrm>
            <a:off x="80467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The named person submits through the buyer portal, email or other stated delivery method.</a:t>
            </a:r>
            <a:endParaRPr lang="en-US" sz="1800" dirty="0"/>
          </a:p>
        </p:txBody>
      </p:sp>
      <p:sp>
        <p:nvSpPr>
          <p:cNvPr id="11" name="Shape 8"/>
          <p:cNvSpPr/>
          <p:nvPr/>
        </p:nvSpPr>
        <p:spPr>
          <a:xfrm>
            <a:off x="4343400" y="1856232"/>
            <a:ext cx="3520440" cy="3557016"/>
          </a:xfrm>
          <a:prstGeom prst="rect">
            <a:avLst/>
          </a:prstGeom>
          <a:solidFill>
            <a:srgbClr val="FFFFFF"/>
          </a:solidFill>
          <a:ln w="12700">
            <a:solidFill>
              <a:srgbClr val="FFFFFF">
                <a:alpha val="0"/>
              </a:srgbClr>
            </a:solidFill>
            <a:prstDash val="solid"/>
          </a:ln>
        </p:spPr>
      </p:sp>
      <p:sp>
        <p:nvSpPr>
          <p:cNvPr id="12" name="Shape 9"/>
          <p:cNvSpPr/>
          <p:nvPr/>
        </p:nvSpPr>
        <p:spPr>
          <a:xfrm>
            <a:off x="4343400" y="1856232"/>
            <a:ext cx="54864" cy="3557016"/>
          </a:xfrm>
          <a:prstGeom prst="rect">
            <a:avLst/>
          </a:prstGeom>
          <a:solidFill>
            <a:srgbClr val="F2B337"/>
          </a:solidFill>
          <a:ln w="12700">
            <a:solidFill>
              <a:srgbClr val="F2B337">
                <a:alpha val="0"/>
              </a:srgbClr>
            </a:solidFill>
            <a:prstDash val="solid"/>
          </a:ln>
        </p:spPr>
      </p:sp>
      <p:sp>
        <p:nvSpPr>
          <p:cNvPr id="13" name="Text 10"/>
          <p:cNvSpPr/>
          <p:nvPr/>
        </p:nvSpPr>
        <p:spPr>
          <a:xfrm>
            <a:off x="455371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02</a:t>
            </a:r>
            <a:endParaRPr lang="en-US" sz="1300" dirty="0"/>
          </a:p>
        </p:txBody>
      </p:sp>
      <p:sp>
        <p:nvSpPr>
          <p:cNvPr id="14" name="Text 11"/>
          <p:cNvSpPr/>
          <p:nvPr/>
        </p:nvSpPr>
        <p:spPr>
          <a:xfrm>
            <a:off x="455371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Record what actually happened</a:t>
            </a:r>
            <a:endParaRPr lang="en-US" sz="2200" dirty="0"/>
          </a:p>
        </p:txBody>
      </p:sp>
      <p:sp>
        <p:nvSpPr>
          <p:cNvPr id="15" name="Text 12"/>
          <p:cNvSpPr/>
          <p:nvPr/>
        </p:nvSpPr>
        <p:spPr>
          <a:xfrm>
            <a:off x="455371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Confirm the exact files and enter the actual time, method, confirmation number and receipt reference.</a:t>
            </a:r>
            <a:endParaRPr lang="en-US" sz="1800" dirty="0"/>
          </a:p>
        </p:txBody>
      </p:sp>
      <p:sp>
        <p:nvSpPr>
          <p:cNvPr id="16" name="Shape 13"/>
          <p:cNvSpPr/>
          <p:nvPr/>
        </p:nvSpPr>
        <p:spPr>
          <a:xfrm>
            <a:off x="8092440" y="1856232"/>
            <a:ext cx="3520440" cy="3557016"/>
          </a:xfrm>
          <a:prstGeom prst="rect">
            <a:avLst/>
          </a:prstGeom>
          <a:solidFill>
            <a:srgbClr val="FFFFFF"/>
          </a:solidFill>
          <a:ln w="12700">
            <a:solidFill>
              <a:srgbClr val="FFFFFF">
                <a:alpha val="0"/>
              </a:srgbClr>
            </a:solidFill>
            <a:prstDash val="solid"/>
          </a:ln>
        </p:spPr>
      </p:sp>
      <p:sp>
        <p:nvSpPr>
          <p:cNvPr id="17" name="Shape 14"/>
          <p:cNvSpPr/>
          <p:nvPr/>
        </p:nvSpPr>
        <p:spPr>
          <a:xfrm>
            <a:off x="8092440" y="1856232"/>
            <a:ext cx="54864" cy="3557016"/>
          </a:xfrm>
          <a:prstGeom prst="rect">
            <a:avLst/>
          </a:prstGeom>
          <a:solidFill>
            <a:srgbClr val="235AF5"/>
          </a:solidFill>
          <a:ln w="12700">
            <a:solidFill>
              <a:srgbClr val="235AF5">
                <a:alpha val="0"/>
              </a:srgbClr>
            </a:solidFill>
            <a:prstDash val="solid"/>
          </a:ln>
        </p:spPr>
      </p:sp>
      <p:sp>
        <p:nvSpPr>
          <p:cNvPr id="18" name="Text 15"/>
          <p:cNvSpPr/>
          <p:nvPr/>
        </p:nvSpPr>
        <p:spPr>
          <a:xfrm>
            <a:off x="830275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03</a:t>
            </a:r>
            <a:endParaRPr lang="en-US" sz="1300" dirty="0"/>
          </a:p>
        </p:txBody>
      </p:sp>
      <p:sp>
        <p:nvSpPr>
          <p:cNvPr id="19" name="Text 16"/>
          <p:cNvSpPr/>
          <p:nvPr/>
        </p:nvSpPr>
        <p:spPr>
          <a:xfrm>
            <a:off x="830275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Preserve the trail</a:t>
            </a:r>
            <a:endParaRPr lang="en-US" sz="2200" dirty="0"/>
          </a:p>
        </p:txBody>
      </p:sp>
      <p:sp>
        <p:nvSpPr>
          <p:cNvPr id="20" name="Text 17"/>
          <p:cNvSpPr/>
          <p:nvPr/>
        </p:nvSpPr>
        <p:spPr>
          <a:xfrm>
            <a:off x="830275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Retain the approved version and external receipt. Add a correction rather than rewriting history.</a:t>
            </a:r>
            <a:endParaRPr lang="en-US" sz="1800" dirty="0"/>
          </a:p>
        </p:txBody>
      </p:sp>
      <p:sp>
        <p:nvSpPr>
          <p:cNvPr id="21" name="Shape 18"/>
          <p:cNvSpPr/>
          <p:nvPr/>
        </p:nvSpPr>
        <p:spPr>
          <a:xfrm>
            <a:off x="594360" y="5650992"/>
            <a:ext cx="11018520" cy="576072"/>
          </a:xfrm>
          <a:prstGeom prst="rect">
            <a:avLst/>
          </a:prstGeom>
          <a:solidFill>
            <a:srgbClr val="0D1933"/>
          </a:solidFill>
          <a:ln w="12700">
            <a:solidFill>
              <a:srgbClr val="0D1933">
                <a:alpha val="0"/>
              </a:srgbClr>
            </a:solidFill>
            <a:prstDash val="solid"/>
          </a:ln>
        </p:spPr>
      </p:sp>
      <p:sp>
        <p:nvSpPr>
          <p:cNvPr id="22" name="Text 19"/>
          <p:cNvSpPr/>
          <p:nvPr/>
        </p:nvSpPr>
        <p:spPr>
          <a:xfrm>
            <a:off x="777240" y="5779008"/>
            <a:ext cx="10607040" cy="374904"/>
          </a:xfrm>
          <a:prstGeom prst="rect">
            <a:avLst/>
          </a:prstGeom>
          <a:noFill/>
          <a:ln/>
        </p:spPr>
        <p:txBody>
          <a:bodyPr wrap="square" lIns="0" tIns="0" rIns="0" bIns="0" rtlCol="0" anchor="t"/>
          <a:lstStyle/>
          <a:p>
            <a:pPr indent="0" marL="0">
              <a:buNone/>
            </a:pPr>
            <a:r>
              <a:rPr lang="en-US" sz="1400" dirty="0">
                <a:solidFill>
                  <a:srgbClr val="FFFFFF"/>
                </a:solidFill>
                <a:latin typeface="Aptos" pitchFamily="34" charset="0"/>
                <a:ea typeface="Aptos" pitchFamily="34" charset="-122"/>
                <a:cs typeface="Aptos" pitchFamily="34" charset="-120"/>
              </a:rPr>
              <a:t>Submission information is user-recorded and is not independently verified by BidXchange.</a:t>
            </a:r>
            <a:endParaRPr lang="en-US" sz="1400" dirty="0"/>
          </a:p>
        </p:txBody>
      </p:sp>
      <p:sp>
        <p:nvSpPr>
          <p:cNvPr id="23" name="Text 2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24" name="Text 2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20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15 / CHANGE CONTROL</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Handle amendments and stale evidence</a:t>
            </a:r>
            <a:endParaRPr lang="en-US" sz="3000" dirty="0"/>
          </a:p>
        </p:txBody>
      </p:sp>
      <p:sp>
        <p:nvSpPr>
          <p:cNvPr id="6" name="Shape 3"/>
          <p:cNvSpPr/>
          <p:nvPr/>
        </p:nvSpPr>
        <p:spPr>
          <a:xfrm>
            <a:off x="594360" y="1856232"/>
            <a:ext cx="3520440" cy="3557016"/>
          </a:xfrm>
          <a:prstGeom prst="rect">
            <a:avLst/>
          </a:prstGeom>
          <a:solidFill>
            <a:srgbClr val="FFFFFF"/>
          </a:solidFill>
          <a:ln w="12700">
            <a:solidFill>
              <a:srgbClr val="FFFFFF">
                <a:alpha val="0"/>
              </a:srgbClr>
            </a:solidFill>
            <a:prstDash val="solid"/>
          </a:ln>
        </p:spPr>
      </p:sp>
      <p:sp>
        <p:nvSpPr>
          <p:cNvPr id="7" name="Shape 4"/>
          <p:cNvSpPr/>
          <p:nvPr/>
        </p:nvSpPr>
        <p:spPr>
          <a:xfrm>
            <a:off x="594360" y="1856232"/>
            <a:ext cx="54864" cy="3557016"/>
          </a:xfrm>
          <a:prstGeom prst="rect">
            <a:avLst/>
          </a:prstGeom>
          <a:solidFill>
            <a:srgbClr val="235AF5"/>
          </a:solidFill>
          <a:ln w="12700">
            <a:solidFill>
              <a:srgbClr val="235AF5">
                <a:alpha val="0"/>
              </a:srgbClr>
            </a:solidFill>
            <a:prstDash val="solid"/>
          </a:ln>
        </p:spPr>
      </p:sp>
      <p:sp>
        <p:nvSpPr>
          <p:cNvPr id="8" name="Text 5"/>
          <p:cNvSpPr/>
          <p:nvPr/>
        </p:nvSpPr>
        <p:spPr>
          <a:xfrm>
            <a:off x="80467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01</a:t>
            </a:r>
            <a:endParaRPr lang="en-US" sz="1300" dirty="0"/>
          </a:p>
        </p:txBody>
      </p:sp>
      <p:sp>
        <p:nvSpPr>
          <p:cNvPr id="9" name="Text 6"/>
          <p:cNvSpPr/>
          <p:nvPr/>
        </p:nvSpPr>
        <p:spPr>
          <a:xfrm>
            <a:off x="80467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Record the amendment</a:t>
            </a:r>
            <a:endParaRPr lang="en-US" sz="2200" dirty="0"/>
          </a:p>
        </p:txBody>
      </p:sp>
      <p:sp>
        <p:nvSpPr>
          <p:cNvPr id="10" name="Text 7"/>
          <p:cNvSpPr/>
          <p:nvPr/>
        </p:nvSpPr>
        <p:spPr>
          <a:xfrm>
            <a:off x="80467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Add its label, date, official URL, summary and public excerpt in Opportunity amendments.</a:t>
            </a:r>
            <a:endParaRPr lang="en-US" sz="1800" dirty="0"/>
          </a:p>
        </p:txBody>
      </p:sp>
      <p:sp>
        <p:nvSpPr>
          <p:cNvPr id="11" name="Shape 8"/>
          <p:cNvSpPr/>
          <p:nvPr/>
        </p:nvSpPr>
        <p:spPr>
          <a:xfrm>
            <a:off x="4343400" y="1856232"/>
            <a:ext cx="3520440" cy="3557016"/>
          </a:xfrm>
          <a:prstGeom prst="rect">
            <a:avLst/>
          </a:prstGeom>
          <a:solidFill>
            <a:srgbClr val="FFFFFF"/>
          </a:solidFill>
          <a:ln w="12700">
            <a:solidFill>
              <a:srgbClr val="FFFFFF">
                <a:alpha val="0"/>
              </a:srgbClr>
            </a:solidFill>
            <a:prstDash val="solid"/>
          </a:ln>
        </p:spPr>
      </p:sp>
      <p:sp>
        <p:nvSpPr>
          <p:cNvPr id="12" name="Shape 9"/>
          <p:cNvSpPr/>
          <p:nvPr/>
        </p:nvSpPr>
        <p:spPr>
          <a:xfrm>
            <a:off x="4343400" y="1856232"/>
            <a:ext cx="54864" cy="3557016"/>
          </a:xfrm>
          <a:prstGeom prst="rect">
            <a:avLst/>
          </a:prstGeom>
          <a:solidFill>
            <a:srgbClr val="F2B337"/>
          </a:solidFill>
          <a:ln w="12700">
            <a:solidFill>
              <a:srgbClr val="F2B337">
                <a:alpha val="0"/>
              </a:srgbClr>
            </a:solidFill>
            <a:prstDash val="solid"/>
          </a:ln>
        </p:spPr>
      </p:sp>
      <p:sp>
        <p:nvSpPr>
          <p:cNvPr id="13" name="Text 10"/>
          <p:cNvSpPr/>
          <p:nvPr/>
        </p:nvSpPr>
        <p:spPr>
          <a:xfrm>
            <a:off x="455371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02</a:t>
            </a:r>
            <a:endParaRPr lang="en-US" sz="1300" dirty="0"/>
          </a:p>
        </p:txBody>
      </p:sp>
      <p:sp>
        <p:nvSpPr>
          <p:cNvPr id="14" name="Text 11"/>
          <p:cNvSpPr/>
          <p:nvPr/>
        </p:nvSpPr>
        <p:spPr>
          <a:xfrm>
            <a:off x="455371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Review the official change</a:t>
            </a:r>
            <a:endParaRPr lang="en-US" sz="2200" dirty="0"/>
          </a:p>
        </p:txBody>
      </p:sp>
      <p:sp>
        <p:nvSpPr>
          <p:cNvPr id="15" name="Text 12"/>
          <p:cNvSpPr/>
          <p:nvPr/>
        </p:nvSpPr>
        <p:spPr>
          <a:xfrm>
            <a:off x="455371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Read it at the source. Record human amendment review; update affected requirements and tasks.</a:t>
            </a:r>
            <a:endParaRPr lang="en-US" sz="1800" dirty="0"/>
          </a:p>
        </p:txBody>
      </p:sp>
      <p:sp>
        <p:nvSpPr>
          <p:cNvPr id="16" name="Shape 13"/>
          <p:cNvSpPr/>
          <p:nvPr/>
        </p:nvSpPr>
        <p:spPr>
          <a:xfrm>
            <a:off x="8092440" y="1856232"/>
            <a:ext cx="3520440" cy="3557016"/>
          </a:xfrm>
          <a:prstGeom prst="rect">
            <a:avLst/>
          </a:prstGeom>
          <a:solidFill>
            <a:srgbClr val="FFFFFF"/>
          </a:solidFill>
          <a:ln w="12700">
            <a:solidFill>
              <a:srgbClr val="FFFFFF">
                <a:alpha val="0"/>
              </a:srgbClr>
            </a:solidFill>
            <a:prstDash val="solid"/>
          </a:ln>
        </p:spPr>
      </p:sp>
      <p:sp>
        <p:nvSpPr>
          <p:cNvPr id="17" name="Shape 14"/>
          <p:cNvSpPr/>
          <p:nvPr/>
        </p:nvSpPr>
        <p:spPr>
          <a:xfrm>
            <a:off x="8092440" y="1856232"/>
            <a:ext cx="54864" cy="3557016"/>
          </a:xfrm>
          <a:prstGeom prst="rect">
            <a:avLst/>
          </a:prstGeom>
          <a:solidFill>
            <a:srgbClr val="235AF5"/>
          </a:solidFill>
          <a:ln w="12700">
            <a:solidFill>
              <a:srgbClr val="235AF5">
                <a:alpha val="0"/>
              </a:srgbClr>
            </a:solidFill>
            <a:prstDash val="solid"/>
          </a:ln>
        </p:spPr>
      </p:sp>
      <p:sp>
        <p:nvSpPr>
          <p:cNvPr id="18" name="Text 15"/>
          <p:cNvSpPr/>
          <p:nvPr/>
        </p:nvSpPr>
        <p:spPr>
          <a:xfrm>
            <a:off x="830275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03</a:t>
            </a:r>
            <a:endParaRPr lang="en-US" sz="1300" dirty="0"/>
          </a:p>
        </p:txBody>
      </p:sp>
      <p:sp>
        <p:nvSpPr>
          <p:cNvPr id="19" name="Text 16"/>
          <p:cNvSpPr/>
          <p:nvPr/>
        </p:nvSpPr>
        <p:spPr>
          <a:xfrm>
            <a:off x="830275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Reaffirm the work</a:t>
            </a:r>
            <a:endParaRPr lang="en-US" sz="2200" dirty="0"/>
          </a:p>
        </p:txBody>
      </p:sp>
      <p:sp>
        <p:nvSpPr>
          <p:cNvPr id="20" name="Text 17"/>
          <p:cNvSpPr/>
          <p:nvPr/>
        </p:nvSpPr>
        <p:spPr>
          <a:xfrm>
            <a:off x="830275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Re-sign the register, record a fresh decision and prepare a new release version when context changes.</a:t>
            </a:r>
            <a:endParaRPr lang="en-US" sz="1800" dirty="0"/>
          </a:p>
        </p:txBody>
      </p:sp>
      <p:sp>
        <p:nvSpPr>
          <p:cNvPr id="21" name="Shape 18"/>
          <p:cNvSpPr/>
          <p:nvPr/>
        </p:nvSpPr>
        <p:spPr>
          <a:xfrm>
            <a:off x="594360" y="5650992"/>
            <a:ext cx="11018520" cy="576072"/>
          </a:xfrm>
          <a:prstGeom prst="rect">
            <a:avLst/>
          </a:prstGeom>
          <a:solidFill>
            <a:srgbClr val="0D1933"/>
          </a:solidFill>
          <a:ln w="12700">
            <a:solidFill>
              <a:srgbClr val="0D1933">
                <a:alpha val="0"/>
              </a:srgbClr>
            </a:solidFill>
            <a:prstDash val="solid"/>
          </a:ln>
        </p:spPr>
      </p:sp>
      <p:sp>
        <p:nvSpPr>
          <p:cNvPr id="22" name="Text 19"/>
          <p:cNvSpPr/>
          <p:nvPr/>
        </p:nvSpPr>
        <p:spPr>
          <a:xfrm>
            <a:off x="777240" y="5779008"/>
            <a:ext cx="10607040" cy="374904"/>
          </a:xfrm>
          <a:prstGeom prst="rect">
            <a:avLst/>
          </a:prstGeom>
          <a:noFill/>
          <a:ln/>
        </p:spPr>
        <p:txBody>
          <a:bodyPr wrap="square" lIns="0" tIns="0" rIns="0" bIns="0" rtlCol="0" anchor="t"/>
          <a:lstStyle/>
          <a:p>
            <a:pPr indent="0" marL="0">
              <a:buNone/>
            </a:pPr>
            <a:r>
              <a:rPr lang="en-US" sz="1400" dirty="0">
                <a:solidFill>
                  <a:srgbClr val="FFFFFF"/>
                </a:solidFill>
                <a:latin typeface="Aptos" pitchFamily="34" charset="0"/>
                <a:ea typeface="Aptos" pitchFamily="34" charset="-122"/>
                <a:cs typeface="Aptos" pitchFamily="34" charset="-120"/>
              </a:rPr>
              <a:t>Previous sign-offs and decisions remain in history. A new amendment requires fresh review.</a:t>
            </a:r>
            <a:endParaRPr lang="en-US" sz="1400" dirty="0"/>
          </a:p>
        </p:txBody>
      </p:sp>
      <p:sp>
        <p:nvSpPr>
          <p:cNvPr id="23" name="Text 2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24" name="Text 2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21</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16 / FOLLOW-UP &amp; ACCESS</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Close the loop—and know who can act</a:t>
            </a:r>
            <a:endParaRPr lang="en-US" sz="3000" dirty="0"/>
          </a:p>
        </p:txBody>
      </p:sp>
      <p:sp>
        <p:nvSpPr>
          <p:cNvPr id="6" name="Shape 3"/>
          <p:cNvSpPr/>
          <p:nvPr/>
        </p:nvSpPr>
        <p:spPr>
          <a:xfrm>
            <a:off x="594360" y="1856232"/>
            <a:ext cx="3520440" cy="3557016"/>
          </a:xfrm>
          <a:prstGeom prst="rect">
            <a:avLst/>
          </a:prstGeom>
          <a:solidFill>
            <a:srgbClr val="FFFFFF"/>
          </a:solidFill>
          <a:ln w="12700">
            <a:solidFill>
              <a:srgbClr val="FFFFFF">
                <a:alpha val="0"/>
              </a:srgbClr>
            </a:solidFill>
            <a:prstDash val="solid"/>
          </a:ln>
        </p:spPr>
      </p:sp>
      <p:sp>
        <p:nvSpPr>
          <p:cNvPr id="7" name="Shape 4"/>
          <p:cNvSpPr/>
          <p:nvPr/>
        </p:nvSpPr>
        <p:spPr>
          <a:xfrm>
            <a:off x="594360" y="1856232"/>
            <a:ext cx="54864" cy="3557016"/>
          </a:xfrm>
          <a:prstGeom prst="rect">
            <a:avLst/>
          </a:prstGeom>
          <a:solidFill>
            <a:srgbClr val="235AF5"/>
          </a:solidFill>
          <a:ln w="12700">
            <a:solidFill>
              <a:srgbClr val="235AF5">
                <a:alpha val="0"/>
              </a:srgbClr>
            </a:solidFill>
            <a:prstDash val="solid"/>
          </a:ln>
        </p:spPr>
      </p:sp>
      <p:sp>
        <p:nvSpPr>
          <p:cNvPr id="8" name="Text 5"/>
          <p:cNvSpPr/>
          <p:nvPr/>
        </p:nvSpPr>
        <p:spPr>
          <a:xfrm>
            <a:off x="80467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01</a:t>
            </a:r>
            <a:endParaRPr lang="en-US" sz="1300" dirty="0"/>
          </a:p>
        </p:txBody>
      </p:sp>
      <p:sp>
        <p:nvSpPr>
          <p:cNvPr id="9" name="Text 6"/>
          <p:cNvSpPr/>
          <p:nvPr/>
        </p:nvSpPr>
        <p:spPr>
          <a:xfrm>
            <a:off x="80467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Record the outcome</a:t>
            </a:r>
            <a:endParaRPr lang="en-US" sz="2200" dirty="0"/>
          </a:p>
        </p:txBody>
      </p:sp>
      <p:sp>
        <p:nvSpPr>
          <p:cNvPr id="10" name="Text 7"/>
          <p:cNvSpPr/>
          <p:nvPr/>
        </p:nvSpPr>
        <p:spPr>
          <a:xfrm>
            <a:off x="80467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Open Post-submission follow-up. Record an award, loss or cancellation with date, official source, reason and debrief.</a:t>
            </a:r>
            <a:endParaRPr lang="en-US" sz="1800" dirty="0"/>
          </a:p>
        </p:txBody>
      </p:sp>
      <p:sp>
        <p:nvSpPr>
          <p:cNvPr id="11" name="Shape 8"/>
          <p:cNvSpPr/>
          <p:nvPr/>
        </p:nvSpPr>
        <p:spPr>
          <a:xfrm>
            <a:off x="4343400" y="1856232"/>
            <a:ext cx="3520440" cy="3557016"/>
          </a:xfrm>
          <a:prstGeom prst="rect">
            <a:avLst/>
          </a:prstGeom>
          <a:solidFill>
            <a:srgbClr val="FFFFFF"/>
          </a:solidFill>
          <a:ln w="12700">
            <a:solidFill>
              <a:srgbClr val="FFFFFF">
                <a:alpha val="0"/>
              </a:srgbClr>
            </a:solidFill>
            <a:prstDash val="solid"/>
          </a:ln>
        </p:spPr>
      </p:sp>
      <p:sp>
        <p:nvSpPr>
          <p:cNvPr id="12" name="Shape 9"/>
          <p:cNvSpPr/>
          <p:nvPr/>
        </p:nvSpPr>
        <p:spPr>
          <a:xfrm>
            <a:off x="4343400" y="1856232"/>
            <a:ext cx="54864" cy="3557016"/>
          </a:xfrm>
          <a:prstGeom prst="rect">
            <a:avLst/>
          </a:prstGeom>
          <a:solidFill>
            <a:srgbClr val="F2B337"/>
          </a:solidFill>
          <a:ln w="12700">
            <a:solidFill>
              <a:srgbClr val="F2B337">
                <a:alpha val="0"/>
              </a:srgbClr>
            </a:solidFill>
            <a:prstDash val="solid"/>
          </a:ln>
        </p:spPr>
      </p:sp>
      <p:sp>
        <p:nvSpPr>
          <p:cNvPr id="13" name="Text 10"/>
          <p:cNvSpPr/>
          <p:nvPr/>
        </p:nvSpPr>
        <p:spPr>
          <a:xfrm>
            <a:off x="455371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02</a:t>
            </a:r>
            <a:endParaRPr lang="en-US" sz="1300" dirty="0"/>
          </a:p>
        </p:txBody>
      </p:sp>
      <p:sp>
        <p:nvSpPr>
          <p:cNvPr id="14" name="Text 11"/>
          <p:cNvSpPr/>
          <p:nvPr/>
        </p:nvSpPr>
        <p:spPr>
          <a:xfrm>
            <a:off x="455371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Use the right role</a:t>
            </a:r>
            <a:endParaRPr lang="en-US" sz="2200" dirty="0"/>
          </a:p>
        </p:txBody>
      </p:sp>
      <p:sp>
        <p:nvSpPr>
          <p:cNvPr id="15" name="Text 12"/>
          <p:cNvSpPr/>
          <p:nvPr/>
        </p:nvSpPr>
        <p:spPr>
          <a:xfrm>
            <a:off x="455371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Admins manage company evidence/access. Capture managers organize bids and drafts. Approvers review decisions/releases.</a:t>
            </a:r>
            <a:endParaRPr lang="en-US" sz="1800" dirty="0"/>
          </a:p>
        </p:txBody>
      </p:sp>
      <p:sp>
        <p:nvSpPr>
          <p:cNvPr id="16" name="Shape 13"/>
          <p:cNvSpPr/>
          <p:nvPr/>
        </p:nvSpPr>
        <p:spPr>
          <a:xfrm>
            <a:off x="8092440" y="1856232"/>
            <a:ext cx="3520440" cy="3557016"/>
          </a:xfrm>
          <a:prstGeom prst="rect">
            <a:avLst/>
          </a:prstGeom>
          <a:solidFill>
            <a:srgbClr val="FFFFFF"/>
          </a:solidFill>
          <a:ln w="12700">
            <a:solidFill>
              <a:srgbClr val="FFFFFF">
                <a:alpha val="0"/>
              </a:srgbClr>
            </a:solidFill>
            <a:prstDash val="solid"/>
          </a:ln>
        </p:spPr>
      </p:sp>
      <p:sp>
        <p:nvSpPr>
          <p:cNvPr id="17" name="Shape 14"/>
          <p:cNvSpPr/>
          <p:nvPr/>
        </p:nvSpPr>
        <p:spPr>
          <a:xfrm>
            <a:off x="8092440" y="1856232"/>
            <a:ext cx="54864" cy="3557016"/>
          </a:xfrm>
          <a:prstGeom prst="rect">
            <a:avLst/>
          </a:prstGeom>
          <a:solidFill>
            <a:srgbClr val="235AF5"/>
          </a:solidFill>
          <a:ln w="12700">
            <a:solidFill>
              <a:srgbClr val="235AF5">
                <a:alpha val="0"/>
              </a:srgbClr>
            </a:solidFill>
            <a:prstDash val="solid"/>
          </a:ln>
        </p:spPr>
      </p:sp>
      <p:sp>
        <p:nvSpPr>
          <p:cNvPr id="18" name="Text 15"/>
          <p:cNvSpPr/>
          <p:nvPr/>
        </p:nvSpPr>
        <p:spPr>
          <a:xfrm>
            <a:off x="830275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03</a:t>
            </a:r>
            <a:endParaRPr lang="en-US" sz="1300" dirty="0"/>
          </a:p>
        </p:txBody>
      </p:sp>
      <p:sp>
        <p:nvSpPr>
          <p:cNvPr id="19" name="Text 16"/>
          <p:cNvSpPr/>
          <p:nvPr/>
        </p:nvSpPr>
        <p:spPr>
          <a:xfrm>
            <a:off x="830275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If a control is missing</a:t>
            </a:r>
            <a:endParaRPr lang="en-US" sz="2200" dirty="0"/>
          </a:p>
        </p:txBody>
      </p:sp>
      <p:sp>
        <p:nvSpPr>
          <p:cNvPr id="20" name="Text 17"/>
          <p:cNvSpPr/>
          <p:nvPr/>
        </p:nvSpPr>
        <p:spPr>
          <a:xfrm>
            <a:off x="830275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Check organization and role. Refresh changed records. Ask your administrator for the appropriate access.</a:t>
            </a:r>
            <a:endParaRPr lang="en-US" sz="1800" dirty="0"/>
          </a:p>
        </p:txBody>
      </p:sp>
      <p:sp>
        <p:nvSpPr>
          <p:cNvPr id="21" name="Shape 18"/>
          <p:cNvSpPr/>
          <p:nvPr/>
        </p:nvSpPr>
        <p:spPr>
          <a:xfrm>
            <a:off x="594360" y="5650992"/>
            <a:ext cx="11018520" cy="576072"/>
          </a:xfrm>
          <a:prstGeom prst="rect">
            <a:avLst/>
          </a:prstGeom>
          <a:solidFill>
            <a:srgbClr val="0D1933"/>
          </a:solidFill>
          <a:ln w="12700">
            <a:solidFill>
              <a:srgbClr val="0D1933">
                <a:alpha val="0"/>
              </a:srgbClr>
            </a:solidFill>
            <a:prstDash val="solid"/>
          </a:ln>
        </p:spPr>
      </p:sp>
      <p:sp>
        <p:nvSpPr>
          <p:cNvPr id="22" name="Text 19"/>
          <p:cNvSpPr/>
          <p:nvPr/>
        </p:nvSpPr>
        <p:spPr>
          <a:xfrm>
            <a:off x="777240" y="5779008"/>
            <a:ext cx="10607040" cy="374904"/>
          </a:xfrm>
          <a:prstGeom prst="rect">
            <a:avLst/>
          </a:prstGeom>
          <a:noFill/>
          <a:ln/>
        </p:spPr>
        <p:txBody>
          <a:bodyPr wrap="square" lIns="0" tIns="0" rIns="0" bIns="0" rtlCol="0" anchor="t"/>
          <a:lstStyle/>
          <a:p>
            <a:pPr indent="0" marL="0">
              <a:buNone/>
            </a:pPr>
            <a:r>
              <a:rPr lang="en-US" sz="1400" dirty="0">
                <a:solidFill>
                  <a:srgbClr val="FFFFFF"/>
                </a:solidFill>
                <a:latin typeface="Aptos" pitchFamily="34" charset="0"/>
                <a:ea typeface="Aptos" pitchFamily="34" charset="-122"/>
                <a:cs typeface="Aptos" pitchFamily="34" charset="-120"/>
              </a:rPr>
              <a:t>An award or past-performance claim must come from a documented human record.</a:t>
            </a:r>
            <a:endParaRPr lang="en-US" sz="1400" dirty="0"/>
          </a:p>
        </p:txBody>
      </p:sp>
      <p:sp>
        <p:nvSpPr>
          <p:cNvPr id="23" name="Text 2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24" name="Text 2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22</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17 / GUIDED EXERCISE</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Practice with one fictional training bid</a:t>
            </a:r>
            <a:endParaRPr lang="en-US" sz="3000" dirty="0"/>
          </a:p>
        </p:txBody>
      </p:sp>
      <p:sp>
        <p:nvSpPr>
          <p:cNvPr id="6" name="Shape 3"/>
          <p:cNvSpPr/>
          <p:nvPr/>
        </p:nvSpPr>
        <p:spPr>
          <a:xfrm>
            <a:off x="594360" y="1856232"/>
            <a:ext cx="3520440" cy="3557016"/>
          </a:xfrm>
          <a:prstGeom prst="rect">
            <a:avLst/>
          </a:prstGeom>
          <a:solidFill>
            <a:srgbClr val="FFFFFF"/>
          </a:solidFill>
          <a:ln w="12700">
            <a:solidFill>
              <a:srgbClr val="FFFFFF">
                <a:alpha val="0"/>
              </a:srgbClr>
            </a:solidFill>
            <a:prstDash val="solid"/>
          </a:ln>
        </p:spPr>
      </p:sp>
      <p:sp>
        <p:nvSpPr>
          <p:cNvPr id="7" name="Shape 4"/>
          <p:cNvSpPr/>
          <p:nvPr/>
        </p:nvSpPr>
        <p:spPr>
          <a:xfrm>
            <a:off x="594360" y="1856232"/>
            <a:ext cx="54864" cy="3557016"/>
          </a:xfrm>
          <a:prstGeom prst="rect">
            <a:avLst/>
          </a:prstGeom>
          <a:solidFill>
            <a:srgbClr val="235AF5"/>
          </a:solidFill>
          <a:ln w="12700">
            <a:solidFill>
              <a:srgbClr val="235AF5">
                <a:alpha val="0"/>
              </a:srgbClr>
            </a:solidFill>
            <a:prstDash val="solid"/>
          </a:ln>
        </p:spPr>
      </p:sp>
      <p:sp>
        <p:nvSpPr>
          <p:cNvPr id="8" name="Text 5"/>
          <p:cNvSpPr/>
          <p:nvPr/>
        </p:nvSpPr>
        <p:spPr>
          <a:xfrm>
            <a:off x="80467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01</a:t>
            </a:r>
            <a:endParaRPr lang="en-US" sz="1300" dirty="0"/>
          </a:p>
        </p:txBody>
      </p:sp>
      <p:sp>
        <p:nvSpPr>
          <p:cNvPr id="9" name="Text 6"/>
          <p:cNvSpPr/>
          <p:nvPr/>
        </p:nvSpPr>
        <p:spPr>
          <a:xfrm>
            <a:off x="80467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Set up the example</a:t>
            </a:r>
            <a:endParaRPr lang="en-US" sz="2200" dirty="0"/>
          </a:p>
        </p:txBody>
      </p:sp>
      <p:sp>
        <p:nvSpPr>
          <p:cNvPr id="10" name="Text 7"/>
          <p:cNvSpPr/>
          <p:nvPr/>
        </p:nvSpPr>
        <p:spPr>
          <a:xfrm>
            <a:off x="80467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In an authorized training workspace, label it “TRAINING — not for submission”. Cite a numbered training brief.</a:t>
            </a:r>
            <a:endParaRPr lang="en-US" sz="1800" dirty="0"/>
          </a:p>
        </p:txBody>
      </p:sp>
      <p:sp>
        <p:nvSpPr>
          <p:cNvPr id="11" name="Shape 8"/>
          <p:cNvSpPr/>
          <p:nvPr/>
        </p:nvSpPr>
        <p:spPr>
          <a:xfrm>
            <a:off x="4343400" y="1856232"/>
            <a:ext cx="3520440" cy="3557016"/>
          </a:xfrm>
          <a:prstGeom prst="rect">
            <a:avLst/>
          </a:prstGeom>
          <a:solidFill>
            <a:srgbClr val="FFFFFF"/>
          </a:solidFill>
          <a:ln w="12700">
            <a:solidFill>
              <a:srgbClr val="FFFFFF">
                <a:alpha val="0"/>
              </a:srgbClr>
            </a:solidFill>
            <a:prstDash val="solid"/>
          </a:ln>
        </p:spPr>
      </p:sp>
      <p:sp>
        <p:nvSpPr>
          <p:cNvPr id="12" name="Shape 9"/>
          <p:cNvSpPr/>
          <p:nvPr/>
        </p:nvSpPr>
        <p:spPr>
          <a:xfrm>
            <a:off x="4343400" y="1856232"/>
            <a:ext cx="54864" cy="3557016"/>
          </a:xfrm>
          <a:prstGeom prst="rect">
            <a:avLst/>
          </a:prstGeom>
          <a:solidFill>
            <a:srgbClr val="F2B337"/>
          </a:solidFill>
          <a:ln w="12700">
            <a:solidFill>
              <a:srgbClr val="F2B337">
                <a:alpha val="0"/>
              </a:srgbClr>
            </a:solidFill>
            <a:prstDash val="solid"/>
          </a:ln>
        </p:spPr>
      </p:sp>
      <p:sp>
        <p:nvSpPr>
          <p:cNvPr id="13" name="Text 10"/>
          <p:cNvSpPr/>
          <p:nvPr/>
        </p:nvSpPr>
        <p:spPr>
          <a:xfrm>
            <a:off x="455371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02</a:t>
            </a:r>
            <a:endParaRPr lang="en-US" sz="1300" dirty="0"/>
          </a:p>
        </p:txBody>
      </p:sp>
      <p:sp>
        <p:nvSpPr>
          <p:cNvPr id="14" name="Text 11"/>
          <p:cNvSpPr/>
          <p:nvPr/>
        </p:nvSpPr>
        <p:spPr>
          <a:xfrm>
            <a:off x="455371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Build the review trail</a:t>
            </a:r>
            <a:endParaRPr lang="en-US" sz="2200" dirty="0"/>
          </a:p>
        </p:txBody>
      </p:sp>
      <p:sp>
        <p:nvSpPr>
          <p:cNvPr id="15" name="Text 12"/>
          <p:cNvSpPr/>
          <p:nvPr/>
        </p:nvSpPr>
        <p:spPr>
          <a:xfrm>
            <a:off x="455371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Add two requirements, one clarification and one assigned task. Review evidence and record a preliminary decision.</a:t>
            </a:r>
            <a:endParaRPr lang="en-US" sz="1800" dirty="0"/>
          </a:p>
        </p:txBody>
      </p:sp>
      <p:sp>
        <p:nvSpPr>
          <p:cNvPr id="16" name="Shape 13"/>
          <p:cNvSpPr/>
          <p:nvPr/>
        </p:nvSpPr>
        <p:spPr>
          <a:xfrm>
            <a:off x="8092440" y="1856232"/>
            <a:ext cx="3520440" cy="3557016"/>
          </a:xfrm>
          <a:prstGeom prst="rect">
            <a:avLst/>
          </a:prstGeom>
          <a:solidFill>
            <a:srgbClr val="FFFFFF"/>
          </a:solidFill>
          <a:ln w="12700">
            <a:solidFill>
              <a:srgbClr val="FFFFFF">
                <a:alpha val="0"/>
              </a:srgbClr>
            </a:solidFill>
            <a:prstDash val="solid"/>
          </a:ln>
        </p:spPr>
      </p:sp>
      <p:sp>
        <p:nvSpPr>
          <p:cNvPr id="17" name="Shape 14"/>
          <p:cNvSpPr/>
          <p:nvPr/>
        </p:nvSpPr>
        <p:spPr>
          <a:xfrm>
            <a:off x="8092440" y="1856232"/>
            <a:ext cx="54864" cy="3557016"/>
          </a:xfrm>
          <a:prstGeom prst="rect">
            <a:avLst/>
          </a:prstGeom>
          <a:solidFill>
            <a:srgbClr val="235AF5"/>
          </a:solidFill>
          <a:ln w="12700">
            <a:solidFill>
              <a:srgbClr val="235AF5">
                <a:alpha val="0"/>
              </a:srgbClr>
            </a:solidFill>
            <a:prstDash val="solid"/>
          </a:ln>
        </p:spPr>
      </p:sp>
      <p:sp>
        <p:nvSpPr>
          <p:cNvPr id="18" name="Text 15"/>
          <p:cNvSpPr/>
          <p:nvPr/>
        </p:nvSpPr>
        <p:spPr>
          <a:xfrm>
            <a:off x="830275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03</a:t>
            </a:r>
            <a:endParaRPr lang="en-US" sz="1300" dirty="0"/>
          </a:p>
        </p:txBody>
      </p:sp>
      <p:sp>
        <p:nvSpPr>
          <p:cNvPr id="19" name="Text 16"/>
          <p:cNvSpPr/>
          <p:nvPr/>
        </p:nvSpPr>
        <p:spPr>
          <a:xfrm>
            <a:off x="830275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Prepare a reviewable draft</a:t>
            </a:r>
            <a:endParaRPr lang="en-US" sz="2200" dirty="0"/>
          </a:p>
        </p:txBody>
      </p:sp>
      <p:sp>
        <p:nvSpPr>
          <p:cNvPr id="20" name="Text 17"/>
          <p:cNvSpPr/>
          <p:nvPr/>
        </p:nvSpPr>
        <p:spPr>
          <a:xfrm>
            <a:off x="830275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Create an outline. Complete one answer, leave one placeholder, export and explain why it is not approved.</a:t>
            </a:r>
            <a:endParaRPr lang="en-US" sz="1800" dirty="0"/>
          </a:p>
        </p:txBody>
      </p:sp>
      <p:sp>
        <p:nvSpPr>
          <p:cNvPr id="21" name="Shape 18"/>
          <p:cNvSpPr/>
          <p:nvPr/>
        </p:nvSpPr>
        <p:spPr>
          <a:xfrm>
            <a:off x="594360" y="5650992"/>
            <a:ext cx="11018520" cy="576072"/>
          </a:xfrm>
          <a:prstGeom prst="rect">
            <a:avLst/>
          </a:prstGeom>
          <a:solidFill>
            <a:srgbClr val="0D1933"/>
          </a:solidFill>
          <a:ln w="12700">
            <a:solidFill>
              <a:srgbClr val="0D1933">
                <a:alpha val="0"/>
              </a:srgbClr>
            </a:solidFill>
            <a:prstDash val="solid"/>
          </a:ln>
        </p:spPr>
      </p:sp>
      <p:sp>
        <p:nvSpPr>
          <p:cNvPr id="22" name="Text 19"/>
          <p:cNvSpPr/>
          <p:nvPr/>
        </p:nvSpPr>
        <p:spPr>
          <a:xfrm>
            <a:off x="777240" y="5779008"/>
            <a:ext cx="10607040" cy="374904"/>
          </a:xfrm>
          <a:prstGeom prst="rect">
            <a:avLst/>
          </a:prstGeom>
          <a:noFill/>
          <a:ln/>
        </p:spPr>
        <p:txBody>
          <a:bodyPr wrap="square" lIns="0" tIns="0" rIns="0" bIns="0" rtlCol="0" anchor="t"/>
          <a:lstStyle/>
          <a:p>
            <a:pPr indent="0" marL="0">
              <a:buNone/>
            </a:pPr>
            <a:r>
              <a:rPr lang="en-US" sz="1400" dirty="0">
                <a:solidFill>
                  <a:srgbClr val="FFFFFF"/>
                </a:solidFill>
                <a:latin typeface="Aptos" pitchFamily="34" charset="0"/>
                <a:ea typeface="Aptos" pitchFamily="34" charset="-122"/>
                <a:cs typeface="Aptos" pitchFamily="34" charset="-120"/>
              </a:rPr>
              <a:t>Practice success: another team member can trace an answer back to its requirement and evidence.</a:t>
            </a:r>
            <a:endParaRPr lang="en-US" sz="1400" dirty="0"/>
          </a:p>
        </p:txBody>
      </p:sp>
      <p:sp>
        <p:nvSpPr>
          <p:cNvPr id="23" name="Text 2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24" name="Text 2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23</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YOUR NEXT SESSION</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Make it a daily operating routine</a:t>
            </a:r>
            <a:endParaRPr lang="en-US" sz="3000" dirty="0"/>
          </a:p>
        </p:txBody>
      </p:sp>
      <p:sp>
        <p:nvSpPr>
          <p:cNvPr id="6" name="Shape 3"/>
          <p:cNvSpPr/>
          <p:nvPr/>
        </p:nvSpPr>
        <p:spPr>
          <a:xfrm>
            <a:off x="594360" y="1856232"/>
            <a:ext cx="3520440" cy="3557016"/>
          </a:xfrm>
          <a:prstGeom prst="rect">
            <a:avLst/>
          </a:prstGeom>
          <a:solidFill>
            <a:srgbClr val="FFFFFF"/>
          </a:solidFill>
          <a:ln w="12700">
            <a:solidFill>
              <a:srgbClr val="FFFFFF">
                <a:alpha val="0"/>
              </a:srgbClr>
            </a:solidFill>
            <a:prstDash val="solid"/>
          </a:ln>
        </p:spPr>
      </p:sp>
      <p:sp>
        <p:nvSpPr>
          <p:cNvPr id="7" name="Shape 4"/>
          <p:cNvSpPr/>
          <p:nvPr/>
        </p:nvSpPr>
        <p:spPr>
          <a:xfrm>
            <a:off x="594360" y="1856232"/>
            <a:ext cx="54864" cy="3557016"/>
          </a:xfrm>
          <a:prstGeom prst="rect">
            <a:avLst/>
          </a:prstGeom>
          <a:solidFill>
            <a:srgbClr val="235AF5"/>
          </a:solidFill>
          <a:ln w="12700">
            <a:solidFill>
              <a:srgbClr val="235AF5">
                <a:alpha val="0"/>
              </a:srgbClr>
            </a:solidFill>
            <a:prstDash val="solid"/>
          </a:ln>
        </p:spPr>
      </p:sp>
      <p:sp>
        <p:nvSpPr>
          <p:cNvPr id="8" name="Text 5"/>
          <p:cNvSpPr/>
          <p:nvPr/>
        </p:nvSpPr>
        <p:spPr>
          <a:xfrm>
            <a:off x="80467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01</a:t>
            </a:r>
            <a:endParaRPr lang="en-US" sz="1300" dirty="0"/>
          </a:p>
        </p:txBody>
      </p:sp>
      <p:sp>
        <p:nvSpPr>
          <p:cNvPr id="9" name="Text 6"/>
          <p:cNvSpPr/>
          <p:nvPr/>
        </p:nvSpPr>
        <p:spPr>
          <a:xfrm>
            <a:off x="80467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Start in Today</a:t>
            </a:r>
            <a:endParaRPr lang="en-US" sz="2200" dirty="0"/>
          </a:p>
        </p:txBody>
      </p:sp>
      <p:sp>
        <p:nvSpPr>
          <p:cNvPr id="10" name="Text 7"/>
          <p:cNvSpPr/>
          <p:nvPr/>
        </p:nvSpPr>
        <p:spPr>
          <a:xfrm>
            <a:off x="80467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Check deadlines, overdue tasks, blockers and evidence needing attention. Open active pursuits.</a:t>
            </a:r>
            <a:endParaRPr lang="en-US" sz="1800" dirty="0"/>
          </a:p>
        </p:txBody>
      </p:sp>
      <p:sp>
        <p:nvSpPr>
          <p:cNvPr id="11" name="Shape 8"/>
          <p:cNvSpPr/>
          <p:nvPr/>
        </p:nvSpPr>
        <p:spPr>
          <a:xfrm>
            <a:off x="4343400" y="1856232"/>
            <a:ext cx="3520440" cy="3557016"/>
          </a:xfrm>
          <a:prstGeom prst="rect">
            <a:avLst/>
          </a:prstGeom>
          <a:solidFill>
            <a:srgbClr val="FFFFFF"/>
          </a:solidFill>
          <a:ln w="12700">
            <a:solidFill>
              <a:srgbClr val="FFFFFF">
                <a:alpha val="0"/>
              </a:srgbClr>
            </a:solidFill>
            <a:prstDash val="solid"/>
          </a:ln>
        </p:spPr>
      </p:sp>
      <p:sp>
        <p:nvSpPr>
          <p:cNvPr id="12" name="Shape 9"/>
          <p:cNvSpPr/>
          <p:nvPr/>
        </p:nvSpPr>
        <p:spPr>
          <a:xfrm>
            <a:off x="4343400" y="1856232"/>
            <a:ext cx="54864" cy="3557016"/>
          </a:xfrm>
          <a:prstGeom prst="rect">
            <a:avLst/>
          </a:prstGeom>
          <a:solidFill>
            <a:srgbClr val="F2B337"/>
          </a:solidFill>
          <a:ln w="12700">
            <a:solidFill>
              <a:srgbClr val="F2B337">
                <a:alpha val="0"/>
              </a:srgbClr>
            </a:solidFill>
            <a:prstDash val="solid"/>
          </a:ln>
        </p:spPr>
      </p:sp>
      <p:sp>
        <p:nvSpPr>
          <p:cNvPr id="13" name="Text 10"/>
          <p:cNvSpPr/>
          <p:nvPr/>
        </p:nvSpPr>
        <p:spPr>
          <a:xfrm>
            <a:off x="455371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02</a:t>
            </a:r>
            <a:endParaRPr lang="en-US" sz="1300" dirty="0"/>
          </a:p>
        </p:txBody>
      </p:sp>
      <p:sp>
        <p:nvSpPr>
          <p:cNvPr id="14" name="Text 11"/>
          <p:cNvSpPr/>
          <p:nvPr/>
        </p:nvSpPr>
        <p:spPr>
          <a:xfrm>
            <a:off x="455371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Check before handoff</a:t>
            </a:r>
            <a:endParaRPr lang="en-US" sz="2200" dirty="0"/>
          </a:p>
        </p:txBody>
      </p:sp>
      <p:sp>
        <p:nvSpPr>
          <p:cNvPr id="15" name="Text 12"/>
          <p:cNvSpPr/>
          <p:nvPr/>
        </p:nvSpPr>
        <p:spPr>
          <a:xfrm>
            <a:off x="455371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Is the register signed off? Is the decision current? Are answers complete and this exact version approved?</a:t>
            </a:r>
            <a:endParaRPr lang="en-US" sz="1800" dirty="0"/>
          </a:p>
        </p:txBody>
      </p:sp>
      <p:sp>
        <p:nvSpPr>
          <p:cNvPr id="16" name="Shape 13"/>
          <p:cNvSpPr/>
          <p:nvPr/>
        </p:nvSpPr>
        <p:spPr>
          <a:xfrm>
            <a:off x="8092440" y="1856232"/>
            <a:ext cx="3520440" cy="3557016"/>
          </a:xfrm>
          <a:prstGeom prst="rect">
            <a:avLst/>
          </a:prstGeom>
          <a:solidFill>
            <a:srgbClr val="FFFFFF"/>
          </a:solidFill>
          <a:ln w="12700">
            <a:solidFill>
              <a:srgbClr val="FFFFFF">
                <a:alpha val="0"/>
              </a:srgbClr>
            </a:solidFill>
            <a:prstDash val="solid"/>
          </a:ln>
        </p:spPr>
      </p:sp>
      <p:sp>
        <p:nvSpPr>
          <p:cNvPr id="17" name="Shape 14"/>
          <p:cNvSpPr/>
          <p:nvPr/>
        </p:nvSpPr>
        <p:spPr>
          <a:xfrm>
            <a:off x="8092440" y="1856232"/>
            <a:ext cx="54864" cy="3557016"/>
          </a:xfrm>
          <a:prstGeom prst="rect">
            <a:avLst/>
          </a:prstGeom>
          <a:solidFill>
            <a:srgbClr val="235AF5"/>
          </a:solidFill>
          <a:ln w="12700">
            <a:solidFill>
              <a:srgbClr val="235AF5">
                <a:alpha val="0"/>
              </a:srgbClr>
            </a:solidFill>
            <a:prstDash val="solid"/>
          </a:ln>
        </p:spPr>
      </p:sp>
      <p:sp>
        <p:nvSpPr>
          <p:cNvPr id="18" name="Text 15"/>
          <p:cNvSpPr/>
          <p:nvPr/>
        </p:nvSpPr>
        <p:spPr>
          <a:xfrm>
            <a:off x="830275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03</a:t>
            </a:r>
            <a:endParaRPr lang="en-US" sz="1300" dirty="0"/>
          </a:p>
        </p:txBody>
      </p:sp>
      <p:sp>
        <p:nvSpPr>
          <p:cNvPr id="19" name="Text 16"/>
          <p:cNvSpPr/>
          <p:nvPr/>
        </p:nvSpPr>
        <p:spPr>
          <a:xfrm>
            <a:off x="830275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Keep learning</a:t>
            </a:r>
            <a:endParaRPr lang="en-US" sz="2200" dirty="0"/>
          </a:p>
        </p:txBody>
      </p:sp>
      <p:sp>
        <p:nvSpPr>
          <p:cNvPr id="20" name="Text 17"/>
          <p:cNvSpPr/>
          <p:nvPr/>
        </p:nvSpPr>
        <p:spPr>
          <a:xfrm>
            <a:off x="830275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Use Workspace guide for contextual help. Open the official source whenever instructions are uncertain.</a:t>
            </a:r>
            <a:endParaRPr lang="en-US" sz="1800" dirty="0"/>
          </a:p>
        </p:txBody>
      </p:sp>
      <p:sp>
        <p:nvSpPr>
          <p:cNvPr id="21" name="Shape 18"/>
          <p:cNvSpPr/>
          <p:nvPr/>
        </p:nvSpPr>
        <p:spPr>
          <a:xfrm>
            <a:off x="594360" y="5650992"/>
            <a:ext cx="11018520" cy="576072"/>
          </a:xfrm>
          <a:prstGeom prst="rect">
            <a:avLst/>
          </a:prstGeom>
          <a:solidFill>
            <a:srgbClr val="0D1933"/>
          </a:solidFill>
          <a:ln w="12700">
            <a:solidFill>
              <a:srgbClr val="0D1933">
                <a:alpha val="0"/>
              </a:srgbClr>
            </a:solidFill>
            <a:prstDash val="solid"/>
          </a:ln>
        </p:spPr>
      </p:sp>
      <p:sp>
        <p:nvSpPr>
          <p:cNvPr id="22" name="Text 19"/>
          <p:cNvSpPr/>
          <p:nvPr/>
        </p:nvSpPr>
        <p:spPr>
          <a:xfrm>
            <a:off x="777240" y="5779008"/>
            <a:ext cx="10607040" cy="374904"/>
          </a:xfrm>
          <a:prstGeom prst="rect">
            <a:avLst/>
          </a:prstGeom>
          <a:noFill/>
          <a:ln/>
        </p:spPr>
        <p:txBody>
          <a:bodyPr wrap="square" lIns="0" tIns="0" rIns="0" bIns="0" rtlCol="0" anchor="t"/>
          <a:lstStyle/>
          <a:p>
            <a:pPr indent="0" marL="0">
              <a:buNone/>
            </a:pPr>
            <a:r>
              <a:rPr lang="en-US" sz="1400" dirty="0">
                <a:solidFill>
                  <a:srgbClr val="FFFFFF"/>
                </a:solidFill>
                <a:latin typeface="Aptos" pitchFamily="34" charset="0"/>
                <a:ea typeface="Aptos" pitchFamily="34" charset="-122"/>
                <a:cs typeface="Aptos" pitchFamily="34" charset="-120"/>
              </a:rPr>
              <a:t>Open bidxapp.vercel.app → choose your company → take the next documented action.</a:t>
            </a:r>
            <a:endParaRPr lang="en-US" sz="1400" dirty="0"/>
          </a:p>
        </p:txBody>
      </p:sp>
      <p:sp>
        <p:nvSpPr>
          <p:cNvPr id="23" name="Text 2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24" name="Text 2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24</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WORKSPACE GUIDE</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Use the thirteen-step pursuit checklist</a:t>
            </a:r>
            <a:endParaRPr lang="en-US" sz="3000" dirty="0"/>
          </a:p>
        </p:txBody>
      </p:sp>
      <p:sp>
        <p:nvSpPr>
          <p:cNvPr id="6" name="Shape 3"/>
          <p:cNvSpPr/>
          <p:nvPr/>
        </p:nvSpPr>
        <p:spPr>
          <a:xfrm>
            <a:off x="594360" y="1856232"/>
            <a:ext cx="3520440" cy="3557016"/>
          </a:xfrm>
          <a:prstGeom prst="rect">
            <a:avLst/>
          </a:prstGeom>
          <a:solidFill>
            <a:srgbClr val="FFFFFF"/>
          </a:solidFill>
          <a:ln w="12700">
            <a:solidFill>
              <a:srgbClr val="FFFFFF">
                <a:alpha val="0"/>
              </a:srgbClr>
            </a:solidFill>
            <a:prstDash val="solid"/>
          </a:ln>
        </p:spPr>
      </p:sp>
      <p:sp>
        <p:nvSpPr>
          <p:cNvPr id="7" name="Shape 4"/>
          <p:cNvSpPr/>
          <p:nvPr/>
        </p:nvSpPr>
        <p:spPr>
          <a:xfrm>
            <a:off x="594360" y="1856232"/>
            <a:ext cx="54864" cy="3557016"/>
          </a:xfrm>
          <a:prstGeom prst="rect">
            <a:avLst/>
          </a:prstGeom>
          <a:solidFill>
            <a:srgbClr val="235AF5"/>
          </a:solidFill>
          <a:ln w="12700">
            <a:solidFill>
              <a:srgbClr val="235AF5">
                <a:alpha val="0"/>
              </a:srgbClr>
            </a:solidFill>
            <a:prstDash val="solid"/>
          </a:ln>
        </p:spPr>
      </p:sp>
      <p:sp>
        <p:nvSpPr>
          <p:cNvPr id="8" name="Text 5"/>
          <p:cNvSpPr/>
          <p:nvPr/>
        </p:nvSpPr>
        <p:spPr>
          <a:xfrm>
            <a:off x="80467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01</a:t>
            </a:r>
            <a:endParaRPr lang="en-US" sz="1300" dirty="0"/>
          </a:p>
        </p:txBody>
      </p:sp>
      <p:sp>
        <p:nvSpPr>
          <p:cNvPr id="9" name="Text 6"/>
          <p:cNvSpPr/>
          <p:nvPr/>
        </p:nvSpPr>
        <p:spPr>
          <a:xfrm>
            <a:off x="80467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Open it inside a pursuit</a:t>
            </a:r>
            <a:endParaRPr lang="en-US" sz="2200" dirty="0"/>
          </a:p>
        </p:txBody>
      </p:sp>
      <p:sp>
        <p:nvSpPr>
          <p:cNvPr id="10" name="Text 7"/>
          <p:cNvSpPr/>
          <p:nvPr/>
        </p:nvSpPr>
        <p:spPr>
          <a:xfrm>
            <a:off x="80467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Choose ?Open this pursuit?s workflow checklist.? Each step links to the relevant record or control.</a:t>
            </a:r>
            <a:endParaRPr lang="en-US" sz="1800" dirty="0"/>
          </a:p>
        </p:txBody>
      </p:sp>
      <p:sp>
        <p:nvSpPr>
          <p:cNvPr id="11" name="Shape 8"/>
          <p:cNvSpPr/>
          <p:nvPr/>
        </p:nvSpPr>
        <p:spPr>
          <a:xfrm>
            <a:off x="4343400" y="1856232"/>
            <a:ext cx="3520440" cy="3557016"/>
          </a:xfrm>
          <a:prstGeom prst="rect">
            <a:avLst/>
          </a:prstGeom>
          <a:solidFill>
            <a:srgbClr val="FFFFFF"/>
          </a:solidFill>
          <a:ln w="12700">
            <a:solidFill>
              <a:srgbClr val="FFFFFF">
                <a:alpha val="0"/>
              </a:srgbClr>
            </a:solidFill>
            <a:prstDash val="solid"/>
          </a:ln>
        </p:spPr>
      </p:sp>
      <p:sp>
        <p:nvSpPr>
          <p:cNvPr id="12" name="Shape 9"/>
          <p:cNvSpPr/>
          <p:nvPr/>
        </p:nvSpPr>
        <p:spPr>
          <a:xfrm>
            <a:off x="4343400" y="1856232"/>
            <a:ext cx="54864" cy="3557016"/>
          </a:xfrm>
          <a:prstGeom prst="rect">
            <a:avLst/>
          </a:prstGeom>
          <a:solidFill>
            <a:srgbClr val="F2B337"/>
          </a:solidFill>
          <a:ln w="12700">
            <a:solidFill>
              <a:srgbClr val="F2B337">
                <a:alpha val="0"/>
              </a:srgbClr>
            </a:solidFill>
            <a:prstDash val="solid"/>
          </a:ln>
        </p:spPr>
      </p:sp>
      <p:sp>
        <p:nvSpPr>
          <p:cNvPr id="13" name="Text 10"/>
          <p:cNvSpPr/>
          <p:nvPr/>
        </p:nvSpPr>
        <p:spPr>
          <a:xfrm>
            <a:off x="455371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02</a:t>
            </a:r>
            <a:endParaRPr lang="en-US" sz="1300" dirty="0"/>
          </a:p>
        </p:txBody>
      </p:sp>
      <p:sp>
        <p:nvSpPr>
          <p:cNvPr id="14" name="Text 11"/>
          <p:cNvSpPr/>
          <p:nvPr/>
        </p:nvSpPr>
        <p:spPr>
          <a:xfrm>
            <a:off x="455371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Follow the current records</a:t>
            </a:r>
            <a:endParaRPr lang="en-US" sz="2200" dirty="0"/>
          </a:p>
        </p:txBody>
      </p:sp>
      <p:sp>
        <p:nvSpPr>
          <p:cNvPr id="15" name="Text 12"/>
          <p:cNvSpPr/>
          <p:nvPr/>
        </p:nvSpPr>
        <p:spPr>
          <a:xfrm>
            <a:off x="455371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Requirements sign-off comes before a final bid/no-bid decision. A current no-bid stops response recommendations.</a:t>
            </a:r>
            <a:endParaRPr lang="en-US" sz="1800" dirty="0"/>
          </a:p>
        </p:txBody>
      </p:sp>
      <p:sp>
        <p:nvSpPr>
          <p:cNvPr id="16" name="Shape 13"/>
          <p:cNvSpPr/>
          <p:nvPr/>
        </p:nvSpPr>
        <p:spPr>
          <a:xfrm>
            <a:off x="8092440" y="1856232"/>
            <a:ext cx="3520440" cy="3557016"/>
          </a:xfrm>
          <a:prstGeom prst="rect">
            <a:avLst/>
          </a:prstGeom>
          <a:solidFill>
            <a:srgbClr val="FFFFFF"/>
          </a:solidFill>
          <a:ln w="12700">
            <a:solidFill>
              <a:srgbClr val="FFFFFF">
                <a:alpha val="0"/>
              </a:srgbClr>
            </a:solidFill>
            <a:prstDash val="solid"/>
          </a:ln>
        </p:spPr>
      </p:sp>
      <p:sp>
        <p:nvSpPr>
          <p:cNvPr id="17" name="Shape 14"/>
          <p:cNvSpPr/>
          <p:nvPr/>
        </p:nvSpPr>
        <p:spPr>
          <a:xfrm>
            <a:off x="8092440" y="1856232"/>
            <a:ext cx="54864" cy="3557016"/>
          </a:xfrm>
          <a:prstGeom prst="rect">
            <a:avLst/>
          </a:prstGeom>
          <a:solidFill>
            <a:srgbClr val="235AF5"/>
          </a:solidFill>
          <a:ln w="12700">
            <a:solidFill>
              <a:srgbClr val="235AF5">
                <a:alpha val="0"/>
              </a:srgbClr>
            </a:solidFill>
            <a:prstDash val="solid"/>
          </a:ln>
        </p:spPr>
      </p:sp>
      <p:sp>
        <p:nvSpPr>
          <p:cNvPr id="18" name="Text 15"/>
          <p:cNvSpPr/>
          <p:nvPr/>
        </p:nvSpPr>
        <p:spPr>
          <a:xfrm>
            <a:off x="830275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03</a:t>
            </a:r>
            <a:endParaRPr lang="en-US" sz="1300" dirty="0"/>
          </a:p>
        </p:txBody>
      </p:sp>
      <p:sp>
        <p:nvSpPr>
          <p:cNvPr id="19" name="Text 16"/>
          <p:cNvSpPr/>
          <p:nvPr/>
        </p:nvSpPr>
        <p:spPr>
          <a:xfrm>
            <a:off x="830275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Read the status carefully</a:t>
            </a:r>
            <a:endParaRPr lang="en-US" sz="2200" dirty="0"/>
          </a:p>
        </p:txBody>
      </p:sp>
      <p:sp>
        <p:nvSpPr>
          <p:cNvPr id="20" name="Text 17"/>
          <p:cNvSpPr/>
          <p:nvPr/>
        </p:nvSpPr>
        <p:spPr>
          <a:xfrm>
            <a:off x="830275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Recorded means a saved record exists. It does not mean eligible, compliant or submitted by BidXchange.</a:t>
            </a:r>
            <a:endParaRPr lang="en-US" sz="1800" dirty="0"/>
          </a:p>
        </p:txBody>
      </p:sp>
      <p:sp>
        <p:nvSpPr>
          <p:cNvPr id="21" name="Shape 18"/>
          <p:cNvSpPr/>
          <p:nvPr/>
        </p:nvSpPr>
        <p:spPr>
          <a:xfrm>
            <a:off x="594360" y="5650992"/>
            <a:ext cx="11018520" cy="576072"/>
          </a:xfrm>
          <a:prstGeom prst="rect">
            <a:avLst/>
          </a:prstGeom>
          <a:solidFill>
            <a:srgbClr val="0D1933"/>
          </a:solidFill>
          <a:ln w="12700">
            <a:solidFill>
              <a:srgbClr val="0D1933">
                <a:alpha val="0"/>
              </a:srgbClr>
            </a:solidFill>
            <a:prstDash val="solid"/>
          </a:ln>
        </p:spPr>
      </p:sp>
      <p:sp>
        <p:nvSpPr>
          <p:cNvPr id="22" name="Text 19"/>
          <p:cNvSpPr/>
          <p:nvPr/>
        </p:nvSpPr>
        <p:spPr>
          <a:xfrm>
            <a:off x="777240" y="5779008"/>
            <a:ext cx="10607040" cy="374904"/>
          </a:xfrm>
          <a:prstGeom prst="rect">
            <a:avLst/>
          </a:prstGeom>
          <a:noFill/>
          <a:ln/>
        </p:spPr>
        <p:txBody>
          <a:bodyPr wrap="square" lIns="0" tIns="0" rIns="0" bIns="0" rtlCol="0" anchor="t"/>
          <a:lstStyle/>
          <a:p>
            <a:pPr indent="0" marL="0">
              <a:buNone/>
            </a:pPr>
            <a:r>
              <a:rPr lang="en-US" sz="1400" dirty="0">
                <a:solidFill>
                  <a:srgbClr val="FFFFFF"/>
                </a:solidFill>
                <a:latin typeface="Aptos" pitchFamily="34" charset="0"/>
                <a:ea typeface="Aptos" pitchFamily="34" charset="-122"/>
                <a:cs typeface="Aptos" pitchFamily="34" charset="-120"/>
              </a:rPr>
              <a:t>A changed source or evidence record can require renewed human review.</a:t>
            </a:r>
            <a:endParaRPr lang="en-US" sz="1400" dirty="0"/>
          </a:p>
        </p:txBody>
      </p:sp>
      <p:sp>
        <p:nvSpPr>
          <p:cNvPr id="23" name="Text 2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24" name="Text 2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25</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FICTIONAL PRACTICE</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Rehearse the complete review sequence</a:t>
            </a:r>
            <a:endParaRPr lang="en-US" sz="3000" dirty="0"/>
          </a:p>
        </p:txBody>
      </p:sp>
      <p:sp>
        <p:nvSpPr>
          <p:cNvPr id="6" name="Shape 3"/>
          <p:cNvSpPr/>
          <p:nvPr/>
        </p:nvSpPr>
        <p:spPr>
          <a:xfrm>
            <a:off x="594360" y="1856232"/>
            <a:ext cx="3520440" cy="3557016"/>
          </a:xfrm>
          <a:prstGeom prst="rect">
            <a:avLst/>
          </a:prstGeom>
          <a:solidFill>
            <a:srgbClr val="FFFFFF"/>
          </a:solidFill>
          <a:ln w="12700">
            <a:solidFill>
              <a:srgbClr val="FFFFFF">
                <a:alpha val="0"/>
              </a:srgbClr>
            </a:solidFill>
            <a:prstDash val="solid"/>
          </a:ln>
        </p:spPr>
      </p:sp>
      <p:sp>
        <p:nvSpPr>
          <p:cNvPr id="7" name="Shape 4"/>
          <p:cNvSpPr/>
          <p:nvPr/>
        </p:nvSpPr>
        <p:spPr>
          <a:xfrm>
            <a:off x="594360" y="1856232"/>
            <a:ext cx="54864" cy="3557016"/>
          </a:xfrm>
          <a:prstGeom prst="rect">
            <a:avLst/>
          </a:prstGeom>
          <a:solidFill>
            <a:srgbClr val="235AF5"/>
          </a:solidFill>
          <a:ln w="12700">
            <a:solidFill>
              <a:srgbClr val="235AF5">
                <a:alpha val="0"/>
              </a:srgbClr>
            </a:solidFill>
            <a:prstDash val="solid"/>
          </a:ln>
        </p:spPr>
      </p:sp>
      <p:sp>
        <p:nvSpPr>
          <p:cNvPr id="8" name="Text 5"/>
          <p:cNvSpPr/>
          <p:nvPr/>
        </p:nvSpPr>
        <p:spPr>
          <a:xfrm>
            <a:off x="80467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01</a:t>
            </a:r>
            <a:endParaRPr lang="en-US" sz="1300" dirty="0"/>
          </a:p>
        </p:txBody>
      </p:sp>
      <p:sp>
        <p:nvSpPr>
          <p:cNvPr id="9" name="Text 6"/>
          <p:cNvSpPr/>
          <p:nvPr/>
        </p:nvSpPr>
        <p:spPr>
          <a:xfrm>
            <a:off x="80467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Open the municipal retrofit</a:t>
            </a:r>
            <a:endParaRPr lang="en-US" sz="2200" dirty="0"/>
          </a:p>
        </p:txBody>
      </p:sp>
      <p:sp>
        <p:nvSpPr>
          <p:cNvPr id="10" name="Text 7"/>
          <p:cNvSpPr/>
          <p:nvPr/>
        </p:nvSpPr>
        <p:spPr>
          <a:xfrm>
            <a:off x="80467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In the demo, choose Practice the municipal retrofit bid. Renew the sample insurance and review ten requirements.</a:t>
            </a:r>
            <a:endParaRPr lang="en-US" sz="1800" dirty="0"/>
          </a:p>
        </p:txBody>
      </p:sp>
      <p:sp>
        <p:nvSpPr>
          <p:cNvPr id="11" name="Shape 8"/>
          <p:cNvSpPr/>
          <p:nvPr/>
        </p:nvSpPr>
        <p:spPr>
          <a:xfrm>
            <a:off x="4343400" y="1856232"/>
            <a:ext cx="3520440" cy="3557016"/>
          </a:xfrm>
          <a:prstGeom prst="rect">
            <a:avLst/>
          </a:prstGeom>
          <a:solidFill>
            <a:srgbClr val="FFFFFF"/>
          </a:solidFill>
          <a:ln w="12700">
            <a:solidFill>
              <a:srgbClr val="FFFFFF">
                <a:alpha val="0"/>
              </a:srgbClr>
            </a:solidFill>
            <a:prstDash val="solid"/>
          </a:ln>
        </p:spPr>
      </p:sp>
      <p:sp>
        <p:nvSpPr>
          <p:cNvPr id="12" name="Shape 9"/>
          <p:cNvSpPr/>
          <p:nvPr/>
        </p:nvSpPr>
        <p:spPr>
          <a:xfrm>
            <a:off x="4343400" y="1856232"/>
            <a:ext cx="54864" cy="3557016"/>
          </a:xfrm>
          <a:prstGeom prst="rect">
            <a:avLst/>
          </a:prstGeom>
          <a:solidFill>
            <a:srgbClr val="F2B337"/>
          </a:solidFill>
          <a:ln w="12700">
            <a:solidFill>
              <a:srgbClr val="F2B337">
                <a:alpha val="0"/>
              </a:srgbClr>
            </a:solidFill>
            <a:prstDash val="solid"/>
          </a:ln>
        </p:spPr>
      </p:sp>
      <p:sp>
        <p:nvSpPr>
          <p:cNvPr id="13" name="Text 10"/>
          <p:cNvSpPr/>
          <p:nvPr/>
        </p:nvSpPr>
        <p:spPr>
          <a:xfrm>
            <a:off x="455371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02</a:t>
            </a:r>
            <a:endParaRPr lang="en-US" sz="1300" dirty="0"/>
          </a:p>
        </p:txBody>
      </p:sp>
      <p:sp>
        <p:nvSpPr>
          <p:cNvPr id="14" name="Text 11"/>
          <p:cNvSpPr/>
          <p:nvPr/>
        </p:nvSpPr>
        <p:spPr>
          <a:xfrm>
            <a:off x="455371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Record the review trail</a:t>
            </a:r>
            <a:endParaRPr lang="en-US" sz="2200" dirty="0"/>
          </a:p>
        </p:txBody>
      </p:sp>
      <p:sp>
        <p:nvSpPr>
          <p:cNvPr id="15" name="Text 12"/>
          <p:cNvSpPr/>
          <p:nvPr/>
        </p:nvSpPr>
        <p:spPr>
          <a:xfrm>
            <a:off x="455371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Add review notes, sign off, record a reasoned decision and finish the three assigned training tasks.</a:t>
            </a:r>
            <a:endParaRPr lang="en-US" sz="1800" dirty="0"/>
          </a:p>
        </p:txBody>
      </p:sp>
      <p:sp>
        <p:nvSpPr>
          <p:cNvPr id="16" name="Shape 13"/>
          <p:cNvSpPr/>
          <p:nvPr/>
        </p:nvSpPr>
        <p:spPr>
          <a:xfrm>
            <a:off x="8092440" y="1856232"/>
            <a:ext cx="3520440" cy="3557016"/>
          </a:xfrm>
          <a:prstGeom prst="rect">
            <a:avLst/>
          </a:prstGeom>
          <a:solidFill>
            <a:srgbClr val="FFFFFF"/>
          </a:solidFill>
          <a:ln w="12700">
            <a:solidFill>
              <a:srgbClr val="FFFFFF">
                <a:alpha val="0"/>
              </a:srgbClr>
            </a:solidFill>
            <a:prstDash val="solid"/>
          </a:ln>
        </p:spPr>
      </p:sp>
      <p:sp>
        <p:nvSpPr>
          <p:cNvPr id="17" name="Shape 14"/>
          <p:cNvSpPr/>
          <p:nvPr/>
        </p:nvSpPr>
        <p:spPr>
          <a:xfrm>
            <a:off x="8092440" y="1856232"/>
            <a:ext cx="54864" cy="3557016"/>
          </a:xfrm>
          <a:prstGeom prst="rect">
            <a:avLst/>
          </a:prstGeom>
          <a:solidFill>
            <a:srgbClr val="235AF5"/>
          </a:solidFill>
          <a:ln w="12700">
            <a:solidFill>
              <a:srgbClr val="235AF5">
                <a:alpha val="0"/>
              </a:srgbClr>
            </a:solidFill>
            <a:prstDash val="solid"/>
          </a:ln>
        </p:spPr>
      </p:sp>
      <p:sp>
        <p:nvSpPr>
          <p:cNvPr id="18" name="Text 15"/>
          <p:cNvSpPr/>
          <p:nvPr/>
        </p:nvSpPr>
        <p:spPr>
          <a:xfrm>
            <a:off x="830275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03</a:t>
            </a:r>
            <a:endParaRPr lang="en-US" sz="1300" dirty="0"/>
          </a:p>
        </p:txBody>
      </p:sp>
      <p:sp>
        <p:nvSpPr>
          <p:cNvPr id="19" name="Text 16"/>
          <p:cNvSpPr/>
          <p:nvPr/>
        </p:nvSpPr>
        <p:spPr>
          <a:xfrm>
            <a:off x="830275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Test what changes</a:t>
            </a:r>
            <a:endParaRPr lang="en-US" sz="2200" dirty="0"/>
          </a:p>
        </p:txBody>
      </p:sp>
      <p:sp>
        <p:nvSpPr>
          <p:cNvPr id="20" name="Text 17"/>
          <p:cNvSpPr/>
          <p:nvPr/>
        </p:nvSpPr>
        <p:spPr>
          <a:xfrm>
            <a:off x="830275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Create an outline, replace placeholders with fictional text, approve and record a fictional receipt. Then simulate an amendment.</a:t>
            </a:r>
            <a:endParaRPr lang="en-US" sz="1800" dirty="0"/>
          </a:p>
        </p:txBody>
      </p:sp>
      <p:sp>
        <p:nvSpPr>
          <p:cNvPr id="21" name="Shape 18"/>
          <p:cNvSpPr/>
          <p:nvPr/>
        </p:nvSpPr>
        <p:spPr>
          <a:xfrm>
            <a:off x="594360" y="5650992"/>
            <a:ext cx="11018520" cy="576072"/>
          </a:xfrm>
          <a:prstGeom prst="rect">
            <a:avLst/>
          </a:prstGeom>
          <a:solidFill>
            <a:srgbClr val="0D1933"/>
          </a:solidFill>
          <a:ln w="12700">
            <a:solidFill>
              <a:srgbClr val="0D1933">
                <a:alpha val="0"/>
              </a:srgbClr>
            </a:solidFill>
            <a:prstDash val="solid"/>
          </a:ln>
        </p:spPr>
      </p:sp>
      <p:sp>
        <p:nvSpPr>
          <p:cNvPr id="22" name="Text 19"/>
          <p:cNvSpPr/>
          <p:nvPr/>
        </p:nvSpPr>
        <p:spPr>
          <a:xfrm>
            <a:off x="777240" y="5779008"/>
            <a:ext cx="10607040" cy="374904"/>
          </a:xfrm>
          <a:prstGeom prst="rect">
            <a:avLst/>
          </a:prstGeom>
          <a:noFill/>
          <a:ln/>
        </p:spPr>
        <p:txBody>
          <a:bodyPr wrap="square" lIns="0" tIns="0" rIns="0" bIns="0" rtlCol="0" anchor="t"/>
          <a:lstStyle/>
          <a:p>
            <a:pPr indent="0" marL="0">
              <a:buNone/>
            </a:pPr>
            <a:r>
              <a:rPr lang="en-US" sz="1400" dirty="0">
                <a:solidFill>
                  <a:srgbClr val="FFFFFF"/>
                </a:solidFill>
                <a:latin typeface="Aptos" pitchFamily="34" charset="0"/>
                <a:ea typeface="Aptos" pitchFamily="34" charset="-122"/>
                <a:cs typeface="Aptos" pitchFamily="34" charset="-120"/>
              </a:rPr>
              <a:t>Fictional local exercise only. Nothing is submitted or saved to a company.</a:t>
            </a:r>
            <a:endParaRPr lang="en-US" sz="1400" dirty="0"/>
          </a:p>
        </p:txBody>
      </p:sp>
      <p:sp>
        <p:nvSpPr>
          <p:cNvPr id="23" name="Text 2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24" name="Text 2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26</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REQUIREMENT CORRECTIONS</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Correct the register without losing history</a:t>
            </a:r>
            <a:endParaRPr lang="en-US" sz="3000" dirty="0"/>
          </a:p>
        </p:txBody>
      </p:sp>
      <p:sp>
        <p:nvSpPr>
          <p:cNvPr id="6" name="Shape 3"/>
          <p:cNvSpPr/>
          <p:nvPr/>
        </p:nvSpPr>
        <p:spPr>
          <a:xfrm>
            <a:off x="594360" y="1856232"/>
            <a:ext cx="3520440" cy="3557016"/>
          </a:xfrm>
          <a:prstGeom prst="rect">
            <a:avLst/>
          </a:prstGeom>
          <a:solidFill>
            <a:srgbClr val="FFFFFF"/>
          </a:solidFill>
          <a:ln w="12700">
            <a:solidFill>
              <a:srgbClr val="FFFFFF">
                <a:alpha val="0"/>
              </a:srgbClr>
            </a:solidFill>
            <a:prstDash val="solid"/>
          </a:ln>
        </p:spPr>
      </p:sp>
      <p:sp>
        <p:nvSpPr>
          <p:cNvPr id="7" name="Shape 4"/>
          <p:cNvSpPr/>
          <p:nvPr/>
        </p:nvSpPr>
        <p:spPr>
          <a:xfrm>
            <a:off x="594360" y="1856232"/>
            <a:ext cx="54864" cy="3557016"/>
          </a:xfrm>
          <a:prstGeom prst="rect">
            <a:avLst/>
          </a:prstGeom>
          <a:solidFill>
            <a:srgbClr val="235AF5"/>
          </a:solidFill>
          <a:ln w="12700">
            <a:solidFill>
              <a:srgbClr val="235AF5">
                <a:alpha val="0"/>
              </a:srgbClr>
            </a:solidFill>
            <a:prstDash val="solid"/>
          </a:ln>
        </p:spPr>
      </p:sp>
      <p:sp>
        <p:nvSpPr>
          <p:cNvPr id="8" name="Text 5"/>
          <p:cNvSpPr/>
          <p:nvPr/>
        </p:nvSpPr>
        <p:spPr>
          <a:xfrm>
            <a:off x="80467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01</a:t>
            </a:r>
            <a:endParaRPr lang="en-US" sz="1300" dirty="0"/>
          </a:p>
        </p:txBody>
      </p:sp>
      <p:sp>
        <p:nvSpPr>
          <p:cNvPr id="9" name="Text 6"/>
          <p:cNvSpPr/>
          <p:nvPr/>
        </p:nvSpPr>
        <p:spPr>
          <a:xfrm>
            <a:off x="80467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Archive an incorrect row</a:t>
            </a:r>
            <a:endParaRPr lang="en-US" sz="2200" dirty="0"/>
          </a:p>
        </p:txBody>
      </p:sp>
      <p:sp>
        <p:nvSpPr>
          <p:cNvPr id="10" name="Text 7"/>
          <p:cNvSpPr/>
          <p:nvPr/>
        </p:nvSpPr>
        <p:spPr>
          <a:xfrm>
            <a:off x="80467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Open Archive or merge requirement. Choose archive, explain why and confirm. The original stays in Archived requirements.</a:t>
            </a:r>
            <a:endParaRPr lang="en-US" sz="1800" dirty="0"/>
          </a:p>
        </p:txBody>
      </p:sp>
      <p:sp>
        <p:nvSpPr>
          <p:cNvPr id="11" name="Shape 8"/>
          <p:cNvSpPr/>
          <p:nvPr/>
        </p:nvSpPr>
        <p:spPr>
          <a:xfrm>
            <a:off x="4343400" y="1856232"/>
            <a:ext cx="3520440" cy="3557016"/>
          </a:xfrm>
          <a:prstGeom prst="rect">
            <a:avLst/>
          </a:prstGeom>
          <a:solidFill>
            <a:srgbClr val="FFFFFF"/>
          </a:solidFill>
          <a:ln w="12700">
            <a:solidFill>
              <a:srgbClr val="FFFFFF">
                <a:alpha val="0"/>
              </a:srgbClr>
            </a:solidFill>
            <a:prstDash val="solid"/>
          </a:ln>
        </p:spPr>
      </p:sp>
      <p:sp>
        <p:nvSpPr>
          <p:cNvPr id="12" name="Shape 9"/>
          <p:cNvSpPr/>
          <p:nvPr/>
        </p:nvSpPr>
        <p:spPr>
          <a:xfrm>
            <a:off x="4343400" y="1856232"/>
            <a:ext cx="54864" cy="3557016"/>
          </a:xfrm>
          <a:prstGeom prst="rect">
            <a:avLst/>
          </a:prstGeom>
          <a:solidFill>
            <a:srgbClr val="F2B337"/>
          </a:solidFill>
          <a:ln w="12700">
            <a:solidFill>
              <a:srgbClr val="F2B337">
                <a:alpha val="0"/>
              </a:srgbClr>
            </a:solidFill>
            <a:prstDash val="solid"/>
          </a:ln>
        </p:spPr>
      </p:sp>
      <p:sp>
        <p:nvSpPr>
          <p:cNvPr id="13" name="Text 10"/>
          <p:cNvSpPr/>
          <p:nvPr/>
        </p:nvSpPr>
        <p:spPr>
          <a:xfrm>
            <a:off x="455371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02</a:t>
            </a:r>
            <a:endParaRPr lang="en-US" sz="1300" dirty="0"/>
          </a:p>
        </p:txBody>
      </p:sp>
      <p:sp>
        <p:nvSpPr>
          <p:cNvPr id="14" name="Text 11"/>
          <p:cNvSpPr/>
          <p:nvPr/>
        </p:nvSpPr>
        <p:spPr>
          <a:xfrm>
            <a:off x="455371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Merge duplicate requirements</a:t>
            </a:r>
            <a:endParaRPr lang="en-US" sz="2200" dirty="0"/>
          </a:p>
        </p:txBody>
      </p:sp>
      <p:sp>
        <p:nvSpPr>
          <p:cNvPr id="15" name="Text 12"/>
          <p:cNvSpPr/>
          <p:nvPr/>
        </p:nvSpPr>
        <p:spPr>
          <a:xfrm>
            <a:off x="455371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Choose an active target in the same pursuit and review the combined wording. Both citations are preserved; the source is archived.</a:t>
            </a:r>
            <a:endParaRPr lang="en-US" sz="1800" dirty="0"/>
          </a:p>
        </p:txBody>
      </p:sp>
      <p:sp>
        <p:nvSpPr>
          <p:cNvPr id="16" name="Shape 13"/>
          <p:cNvSpPr/>
          <p:nvPr/>
        </p:nvSpPr>
        <p:spPr>
          <a:xfrm>
            <a:off x="8092440" y="1856232"/>
            <a:ext cx="3520440" cy="3557016"/>
          </a:xfrm>
          <a:prstGeom prst="rect">
            <a:avLst/>
          </a:prstGeom>
          <a:solidFill>
            <a:srgbClr val="FFFFFF"/>
          </a:solidFill>
          <a:ln w="12700">
            <a:solidFill>
              <a:srgbClr val="FFFFFF">
                <a:alpha val="0"/>
              </a:srgbClr>
            </a:solidFill>
            <a:prstDash val="solid"/>
          </a:ln>
        </p:spPr>
      </p:sp>
      <p:sp>
        <p:nvSpPr>
          <p:cNvPr id="17" name="Shape 14"/>
          <p:cNvSpPr/>
          <p:nvPr/>
        </p:nvSpPr>
        <p:spPr>
          <a:xfrm>
            <a:off x="8092440" y="1856232"/>
            <a:ext cx="54864" cy="3557016"/>
          </a:xfrm>
          <a:prstGeom prst="rect">
            <a:avLst/>
          </a:prstGeom>
          <a:solidFill>
            <a:srgbClr val="235AF5"/>
          </a:solidFill>
          <a:ln w="12700">
            <a:solidFill>
              <a:srgbClr val="235AF5">
                <a:alpha val="0"/>
              </a:srgbClr>
            </a:solidFill>
            <a:prstDash val="solid"/>
          </a:ln>
        </p:spPr>
      </p:sp>
      <p:sp>
        <p:nvSpPr>
          <p:cNvPr id="18" name="Text 15"/>
          <p:cNvSpPr/>
          <p:nvPr/>
        </p:nvSpPr>
        <p:spPr>
          <a:xfrm>
            <a:off x="830275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03</a:t>
            </a:r>
            <a:endParaRPr lang="en-US" sz="1300" dirty="0"/>
          </a:p>
        </p:txBody>
      </p:sp>
      <p:sp>
        <p:nvSpPr>
          <p:cNvPr id="19" name="Text 16"/>
          <p:cNvSpPr/>
          <p:nvPr/>
        </p:nvSpPr>
        <p:spPr>
          <a:xfrm>
            <a:off x="830275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Restore for another review</a:t>
            </a:r>
            <a:endParaRPr lang="en-US" sz="2200" dirty="0"/>
          </a:p>
        </p:txBody>
      </p:sp>
      <p:sp>
        <p:nvSpPr>
          <p:cNvPr id="20" name="Text 17"/>
          <p:cNvSpPr/>
          <p:nvPr/>
        </p:nvSpPr>
        <p:spPr>
          <a:xfrm>
            <a:off x="830275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Open an archived row and choose Restore requirement. The original returns as needs review. Review any merged target separately.</a:t>
            </a:r>
            <a:endParaRPr lang="en-US" sz="1800" dirty="0"/>
          </a:p>
        </p:txBody>
      </p:sp>
      <p:sp>
        <p:nvSpPr>
          <p:cNvPr id="21" name="Shape 18"/>
          <p:cNvSpPr/>
          <p:nvPr/>
        </p:nvSpPr>
        <p:spPr>
          <a:xfrm>
            <a:off x="594360" y="5650992"/>
            <a:ext cx="11018520" cy="576072"/>
          </a:xfrm>
          <a:prstGeom prst="rect">
            <a:avLst/>
          </a:prstGeom>
          <a:solidFill>
            <a:srgbClr val="0D1933"/>
          </a:solidFill>
          <a:ln w="12700">
            <a:solidFill>
              <a:srgbClr val="0D1933">
                <a:alpha val="0"/>
              </a:srgbClr>
            </a:solidFill>
            <a:prstDash val="solid"/>
          </a:ln>
        </p:spPr>
      </p:sp>
      <p:sp>
        <p:nvSpPr>
          <p:cNvPr id="22" name="Text 19"/>
          <p:cNvSpPr/>
          <p:nvPr/>
        </p:nvSpPr>
        <p:spPr>
          <a:xfrm>
            <a:off x="777240" y="5779008"/>
            <a:ext cx="10607040" cy="374904"/>
          </a:xfrm>
          <a:prstGeom prst="rect">
            <a:avLst/>
          </a:prstGeom>
          <a:noFill/>
          <a:ln/>
        </p:spPr>
        <p:txBody>
          <a:bodyPr wrap="square" lIns="0" tIns="0" rIns="0" bIns="0" rtlCol="0" anchor="t"/>
          <a:lstStyle/>
          <a:p>
            <a:pPr indent="0" marL="0">
              <a:buNone/>
            </a:pPr>
            <a:r>
              <a:rPr lang="en-US" sz="1400" dirty="0">
                <a:solidFill>
                  <a:srgbClr val="FFFFFF"/>
                </a:solidFill>
                <a:latin typeface="Aptos" pitchFamily="34" charset="0"/>
                <a:ea typeface="Aptos" pitchFamily="34" charset="-122"/>
                <a:cs typeface="Aptos" pitchFamily="34" charset="-120"/>
              </a:rPr>
              <a:t>Corrections require fresh sign-off and approval. Archiving is not a buyer waiver.</a:t>
            </a:r>
            <a:endParaRPr lang="en-US" sz="1400" dirty="0"/>
          </a:p>
        </p:txBody>
      </p:sp>
      <p:sp>
        <p:nvSpPr>
          <p:cNvPr id="23" name="Text 2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24" name="Text 2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27</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BidXchange LLC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to Use BidXchange — California Contractor Edition</dc:title>
  <dc:subject>How to use the deployed California contractor workflow</dc:subject>
  <dc:creator>BidXchange</dc:creator>
  <cp:lastModifiedBy>BidXchange</cp:lastModifiedBy>
  <cp:revision>1</cp:revision>
  <dcterms:created xsi:type="dcterms:W3CDTF">2026-09-22T20:28:17Z</dcterms:created>
  <dcterms:modified xsi:type="dcterms:W3CDTF">2026-09-22T20:28:17Z</dcterms:modified>
</cp:coreProperties>
</file>